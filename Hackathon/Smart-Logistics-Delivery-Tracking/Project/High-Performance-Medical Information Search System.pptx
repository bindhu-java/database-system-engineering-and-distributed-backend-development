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eorgia Bold" charset="1" panose="02040802050405020203"/>
      <p:regular r:id="rId19"/>
    </p:embeddedFont>
    <p:embeddedFont>
      <p:font typeface="Georgia" charset="1" panose="02040502050405020303"/>
      <p:regular r:id="rId20"/>
    </p:embeddedFont>
    <p:embeddedFont>
      <p:font typeface="Calibri (MS)" charset="1" panose="020F0502020204030204"/>
      <p:regular r:id="rId21"/>
    </p:embeddedFont>
    <p:embeddedFont>
      <p:font typeface="Calibri (MS) Bold" charset="1" panose="020F0702030404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120" y="754380"/>
            <a:ext cx="16322040" cy="1222028"/>
            <a:chOff x="0" y="0"/>
            <a:chExt cx="21762720" cy="16293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1629370"/>
            </a:xfrm>
            <a:custGeom>
              <a:avLst/>
              <a:gdLst/>
              <a:ahLst/>
              <a:cxnLst/>
              <a:rect r="r" b="b" t="t" l="l"/>
              <a:pathLst>
                <a:path h="162937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29370"/>
                  </a:lnTo>
                  <a:lnTo>
                    <a:pt x="0" y="16293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580" r="0" b="-1939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762720" cy="1638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High-Performance Medical Information Search System</a:t>
              </a:r>
            </a:p>
            <a:p>
              <a:pPr algn="ctr">
                <a:lnSpc>
                  <a:spcPts val="4320"/>
                </a:lnSpc>
              </a:pP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2263140" y="2179320"/>
          <a:ext cx="13716000" cy="2590800"/>
        </p:xfrm>
        <a:graphic>
          <a:graphicData uri="http://schemas.openxmlformats.org/drawingml/2006/table">
            <a:tbl>
              <a:tblPr/>
              <a:tblGrid>
                <a:gridCol w="6858000"/>
                <a:gridCol w="6858000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Team Member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F7089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Roll Number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Vaishali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2520030117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Bindhu Madhavi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2520030077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5C4632"/>
                          </a:solidFill>
                          <a:latin typeface="Georgia Bold"/>
                          <a:ea typeface="Georgia Bold"/>
                          <a:cs typeface="Georgia Bold"/>
                          <a:sym typeface="Georgia Bold"/>
                        </a:rPr>
                        <a:t>Sri Kruthi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5C4632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2520030340</a:t>
                      </a:r>
                      <a:endParaRPr lang="en-US" sz="1100"/>
                    </a:p>
                  </a:txBody>
                  <a:tcPr marL="127000" marR="127000" marT="127000" marB="127000" anchor="ctr">
                    <a:lnL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3C4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1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60120" y="5966460"/>
            <a:ext cx="16322040" cy="480060"/>
            <a:chOff x="0" y="0"/>
            <a:chExt cx="2176272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1762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7A65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 the Guidance of  </a:t>
              </a:r>
              <a:r>
                <a:rPr lang="en-US" sz="1950" b="true">
                  <a:solidFill>
                    <a:srgbClr val="4F70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S. Madhavi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6419088"/>
            <a:ext cx="16322040" cy="480060"/>
            <a:chOff x="0" y="0"/>
            <a:chExt cx="2176272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176272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4F70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of Computer Science and Engineering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1880">
            <a:off x="6368396" y="7607618"/>
            <a:ext cx="5505479" cy="0"/>
          </a:xfrm>
          <a:prstGeom prst="line">
            <a:avLst/>
          </a:prstGeom>
          <a:ln cap="rnd" w="9525">
            <a:solidFill>
              <a:srgbClr val="B3C4D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960120" y="7886700"/>
            <a:ext cx="16322040" cy="548640"/>
            <a:chOff x="0" y="0"/>
            <a:chExt cx="2176272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762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150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KONERU LAKSHMAIAH EDUCATION FOUNDATION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120" y="8435340"/>
            <a:ext cx="16322040" cy="411480"/>
            <a:chOff x="0" y="0"/>
            <a:chExt cx="2176272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76272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7A65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KLH Deemed to be University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364063" y="5143500"/>
            <a:ext cx="725465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7A6552"/>
                </a:solidFill>
                <a:latin typeface="Georgia"/>
                <a:ea typeface="Georgia"/>
                <a:cs typeface="Georgia"/>
                <a:sym typeface="Georgia"/>
              </a:rPr>
              <a:t>Section: 7</a:t>
            </a:r>
          </a:p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7A6552"/>
                </a:solidFill>
                <a:latin typeface="Georgia"/>
                <a:ea typeface="Georgia"/>
                <a:cs typeface="Georgia"/>
                <a:sym typeface="Georgia"/>
              </a:rPr>
              <a:t> Team: 18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Abstract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312287" y="3657600"/>
            <a:ext cx="10827469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Searches medical information quickly.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Finds medical terms, symptoms, diseases, and medicines.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Uses high-performance text-searching algorithms.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Identifies all occurrences of a searched term.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Displays the positions of matching terms.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unnecessary character comparisons.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searching across multiple medical text files.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large medical datasets efficiently.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Improves the speed and accuracy of medical information retrieval.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a simple way to locate relevant information in large medical documents.</a:t>
            </a:r>
          </a:p>
          <a:p>
            <a:pPr algn="l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919320" y="813435"/>
            <a:ext cx="3923109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b="true" sz="5099">
                <a:solidFill>
                  <a:srgbClr val="4F7089"/>
                </a:solidFill>
                <a:latin typeface="Georgia Bold"/>
                <a:ea typeface="Georgia Bold"/>
                <a:cs typeface="Georgia Bold"/>
                <a:sym typeface="Georgia Bold"/>
              </a:rPr>
              <a:t>Description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3109" y="3739704"/>
            <a:ext cx="11541782" cy="403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user enters a medical term to be searched.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Medical information is provided through text files or documents.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system preprocesses the input pattern before searching.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Efficient searching algorithms are applied to find the required term.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system identifies all matching occurrences in the text.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positions of the matching terms are displayed.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searching performance is analyzed based on execution time and efficiency.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system can process large medical text datasets without unnecessary comparisons.</a:t>
            </a:r>
          </a:p>
          <a:p>
            <a:pPr algn="l" marL="523565" indent="-261783" lvl="1">
              <a:lnSpc>
                <a:spcPts val="2910"/>
              </a:lnSpc>
              <a:buFont typeface="Arial"/>
              <a:buChar char="•"/>
            </a:pPr>
            <a:r>
              <a:rPr lang="en-US" sz="2425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The search results help users quickly locate relevant medical information from the available documents.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Statement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194560"/>
            <a:ext cx="15499080" cy="7406640"/>
            <a:chOff x="0" y="0"/>
            <a:chExt cx="20665440" cy="9875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65439" cy="9875520"/>
            </a:xfrm>
            <a:custGeom>
              <a:avLst/>
              <a:gdLst/>
              <a:ahLst/>
              <a:cxnLst/>
              <a:rect r="r" b="b" t="t" l="l"/>
              <a:pathLst>
                <a:path h="9875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875520"/>
                  </a:lnTo>
                  <a:lnTo>
                    <a:pt x="0" y="9875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13" t="0" r="-1131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65440" cy="9913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information is stored in large documents and text files.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Finding specific medical terms can be time-consuming.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Traditional searching may perform unnecessary comparisons.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Searching multiple files increases processing time.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datasets require faster and more efficient searching methods.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Different types of medical information may require different search approaches.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Accurate identification of medical terms and their locations is important.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 need clear and understandable search results.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Efficient searching is needed to reduce processing time.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Therefore, a high-performance medical information search solution is required.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Proposed Functionalities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194560"/>
            <a:ext cx="15499080" cy="7406640"/>
            <a:chOff x="0" y="0"/>
            <a:chExt cx="20665440" cy="9875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65439" cy="9875520"/>
            </a:xfrm>
            <a:custGeom>
              <a:avLst/>
              <a:gdLst/>
              <a:ahLst/>
              <a:cxnLst/>
              <a:rect r="r" b="b" t="t" l="l"/>
              <a:pathLst>
                <a:path h="9875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875520"/>
                  </a:lnTo>
                  <a:lnTo>
                    <a:pt x="0" y="9875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13" t="0" r="-1131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65440" cy="9913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62156" y="3861395"/>
            <a:ext cx="10479524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Exact Medical Term Searching – Finds specific medical terms accurately.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Pattern Matching – Identifies required patterns efficiently.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Approximate Matching – Finds similar medical terms with small differences.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Multiple File Searching – Searches medical terms across multiple files.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Matching Position Identification – Shows the location of matched terms.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Clear Result Display – Presents search results in an easy-to-understand format.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 Comparison – Compares the efficiency of different algorithms.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Fast Large-Data Searching – Processes large medical datasets quickly.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Calibri (MS)"/>
                <a:ea typeface="Calibri (MS)"/>
                <a:cs typeface="Calibri (MS)"/>
                <a:sym typeface="Calibri (MS)"/>
              </a:rPr>
              <a:t>Efficient Document Processing – Handles multiple medical documents efficiently.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120" y="685800"/>
            <a:ext cx="16322040" cy="1097280"/>
            <a:chOff x="0" y="0"/>
            <a:chExt cx="21762720" cy="14630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839" r="0" b="-23983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Tools, Technologies &amp; Algorithms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194560"/>
            <a:ext cx="15499080" cy="7406640"/>
            <a:chOff x="0" y="0"/>
            <a:chExt cx="20665440" cy="9875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65439" cy="9875520"/>
            </a:xfrm>
            <a:custGeom>
              <a:avLst/>
              <a:gdLst/>
              <a:ahLst/>
              <a:cxnLst/>
              <a:rect r="r" b="b" t="t" l="l"/>
              <a:pathLst>
                <a:path h="9875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9875520"/>
                  </a:lnTo>
                  <a:lnTo>
                    <a:pt x="0" y="9875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13" t="0" r="-1131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665440" cy="9913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KMP Algorithm.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KMP Algorithm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Z-Function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Rabin-Karp Algorithm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Programming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Network Flow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Approximation Algorithms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Randomized Algorithms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Algorithms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Text File Processing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Performance Analysis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Pattern Preprocessing</a:t>
              </a:r>
            </a:p>
            <a:p>
              <a:pPr algn="l" marL="518160" indent="-25908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5C463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 Visualization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3104" y="1355454"/>
            <a:ext cx="1687642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9"/>
              </a:lnSpc>
              <a:spcBef>
                <a:spcPct val="0"/>
              </a:spcBef>
            </a:pPr>
            <a:r>
              <a:rPr lang="en-US" b="true" sz="5099">
                <a:solidFill>
                  <a:srgbClr val="4F7089"/>
                </a:solidFill>
                <a:latin typeface="Georgia Bold"/>
                <a:ea typeface="Georgia Bold"/>
                <a:cs typeface="Georgia Bold"/>
                <a:sym typeface="Georgia Bold"/>
              </a:rPr>
              <a:t>Implementation Using CO2 and CO3 Algorithms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0272" y="4493895"/>
            <a:ext cx="10674191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Implement the algorithms specified under CO2 and CO3.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Apply the algorithms to search medical terms in text data.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Explain the working principle of each algorithm.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Provide the implementation/code for each algorithm.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Test the algorithms using suitable medical text examples.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Compare the algorithms based on searching efficiency and time complexity.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Explain the contribution of each team member in the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291840" y="-3566160"/>
            <a:ext cx="8503920" cy="8503920"/>
            <a:chOff x="0" y="0"/>
            <a:chExt cx="11338560" cy="11338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38560" cy="11338560"/>
            </a:xfrm>
            <a:custGeom>
              <a:avLst/>
              <a:gdLst/>
              <a:ahLst/>
              <a:cxnLst/>
              <a:rect r="r" b="b" t="t" l="l"/>
              <a:pathLst>
                <a:path h="11338560" w="11338560">
                  <a:moveTo>
                    <a:pt x="0" y="5669280"/>
                  </a:moveTo>
                  <a:cubicBezTo>
                    <a:pt x="0" y="2538222"/>
                    <a:pt x="2538222" y="0"/>
                    <a:pt x="5669280" y="0"/>
                  </a:cubicBezTo>
                  <a:cubicBezTo>
                    <a:pt x="8800338" y="0"/>
                    <a:pt x="11338560" y="2538222"/>
                    <a:pt x="11338560" y="5669280"/>
                  </a:cubicBezTo>
                  <a:cubicBezTo>
                    <a:pt x="11338560" y="8800338"/>
                    <a:pt x="8800338" y="11338560"/>
                    <a:pt x="5669280" y="11338560"/>
                  </a:cubicBezTo>
                  <a:cubicBezTo>
                    <a:pt x="2538222" y="11338560"/>
                    <a:pt x="0" y="8800338"/>
                    <a:pt x="0" y="56692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41680" y="6309360"/>
            <a:ext cx="7406640" cy="7406640"/>
            <a:chOff x="0" y="0"/>
            <a:chExt cx="9875520" cy="9875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75520" cy="9875520"/>
            </a:xfrm>
            <a:custGeom>
              <a:avLst/>
              <a:gdLst/>
              <a:ahLst/>
              <a:cxnLst/>
              <a:rect r="r" b="b" t="t" l="l"/>
              <a:pathLst>
                <a:path h="9875520" w="9875520">
                  <a:moveTo>
                    <a:pt x="0" y="4937760"/>
                  </a:moveTo>
                  <a:cubicBezTo>
                    <a:pt x="0" y="2210689"/>
                    <a:pt x="2210689" y="0"/>
                    <a:pt x="4937760" y="0"/>
                  </a:cubicBezTo>
                  <a:cubicBezTo>
                    <a:pt x="7664831" y="0"/>
                    <a:pt x="9875520" y="2210689"/>
                    <a:pt x="9875520" y="4937760"/>
                  </a:cubicBezTo>
                  <a:cubicBezTo>
                    <a:pt x="9875520" y="7664831"/>
                    <a:pt x="7664831" y="9875520"/>
                    <a:pt x="4937760" y="9875520"/>
                  </a:cubicBezTo>
                  <a:cubicBezTo>
                    <a:pt x="2210688" y="9875520"/>
                    <a:pt x="0" y="7664831"/>
                    <a:pt x="0" y="49377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79548" y="676275"/>
            <a:ext cx="268069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  <a:spcBef>
                <a:spcPct val="0"/>
              </a:spcBef>
            </a:pPr>
            <a:r>
              <a:rPr lang="en-US" b="true" sz="5100">
                <a:solidFill>
                  <a:srgbClr val="4F7089"/>
                </a:solidFill>
                <a:latin typeface="Georgia Bold"/>
                <a:ea typeface="Georgia Bold"/>
                <a:cs typeface="Georgia Bold"/>
                <a:sym typeface="Georgia Bold"/>
              </a:rPr>
              <a:t>Outputs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26977" y="3834250"/>
            <a:ext cx="10394846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Display the medical text used as input.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Display the medical term entered for searching.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Show all occurrences of the searched term.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Display the positions of matching terms.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Show the number of matches found.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Display the searching time or performance result.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Show comparison results between implemented algorithms.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5C4632"/>
                </a:solidFill>
                <a:latin typeface="Georgia"/>
                <a:ea typeface="Georgia"/>
                <a:cs typeface="Georgia"/>
                <a:sym typeface="Georgia"/>
              </a:rPr>
              <a:t>Include screenshots of the working application and outputs.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0480" y="-4114800"/>
            <a:ext cx="9875520" cy="9875520"/>
            <a:chOff x="0" y="0"/>
            <a:chExt cx="13167360" cy="13167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67361" cy="13167361"/>
            </a:xfrm>
            <a:custGeom>
              <a:avLst/>
              <a:gdLst/>
              <a:ahLst/>
              <a:cxnLst/>
              <a:rect r="r" b="b" t="t" l="l"/>
              <a:pathLst>
                <a:path h="13167361" w="13167361">
                  <a:moveTo>
                    <a:pt x="0" y="6583680"/>
                  </a:moveTo>
                  <a:cubicBezTo>
                    <a:pt x="0" y="2947670"/>
                    <a:pt x="2947670" y="0"/>
                    <a:pt x="6583680" y="0"/>
                  </a:cubicBezTo>
                  <a:cubicBezTo>
                    <a:pt x="10219691" y="0"/>
                    <a:pt x="13167361" y="2947670"/>
                    <a:pt x="13167361" y="6583680"/>
                  </a:cubicBezTo>
                  <a:cubicBezTo>
                    <a:pt x="13167361" y="10219691"/>
                    <a:pt x="10219691" y="13167361"/>
                    <a:pt x="6583680" y="13167361"/>
                  </a:cubicBezTo>
                  <a:cubicBezTo>
                    <a:pt x="2947670" y="13167361"/>
                    <a:pt x="0" y="10219690"/>
                    <a:pt x="0" y="65836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618720" y="5760720"/>
            <a:ext cx="8778240" cy="8778240"/>
            <a:chOff x="0" y="0"/>
            <a:chExt cx="11704320" cy="11704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04320" cy="11704320"/>
            </a:xfrm>
            <a:custGeom>
              <a:avLst/>
              <a:gdLst/>
              <a:ahLst/>
              <a:cxnLst/>
              <a:rect r="r" b="b" t="t" l="l"/>
              <a:pathLst>
                <a:path h="11704320" w="11704320">
                  <a:moveTo>
                    <a:pt x="0" y="5852160"/>
                  </a:moveTo>
                  <a:cubicBezTo>
                    <a:pt x="0" y="2620137"/>
                    <a:pt x="2620137" y="0"/>
                    <a:pt x="5852160" y="0"/>
                  </a:cubicBezTo>
                  <a:cubicBezTo>
                    <a:pt x="9084183" y="0"/>
                    <a:pt x="11704320" y="2620137"/>
                    <a:pt x="11704320" y="5852160"/>
                  </a:cubicBezTo>
                  <a:cubicBezTo>
                    <a:pt x="11704320" y="9084183"/>
                    <a:pt x="9084183" y="11704320"/>
                    <a:pt x="5852160" y="11704320"/>
                  </a:cubicBezTo>
                  <a:cubicBezTo>
                    <a:pt x="2620137" y="11704320"/>
                    <a:pt x="0" y="9084183"/>
                    <a:pt x="0" y="5852160"/>
                  </a:cubicBezTo>
                  <a:close/>
                </a:path>
              </a:pathLst>
            </a:custGeom>
            <a:solidFill>
              <a:srgbClr val="B9CCD9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38960" y="-3017520"/>
            <a:ext cx="5760720" cy="5760720"/>
            <a:chOff x="0" y="0"/>
            <a:chExt cx="7680960" cy="7680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80960" cy="7680960"/>
            </a:xfrm>
            <a:custGeom>
              <a:avLst/>
              <a:gdLst/>
              <a:ahLst/>
              <a:cxnLst/>
              <a:rect r="r" b="b" t="t" l="l"/>
              <a:pathLst>
                <a:path h="7680960" w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C9D9E3">
                <a:alpha val="41961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4526280"/>
            <a:ext cx="18283428" cy="1371600"/>
            <a:chOff x="0" y="0"/>
            <a:chExt cx="24377904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779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735" r="0" b="-20973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4377904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20"/>
                </a:lnSpc>
              </a:pPr>
              <a:r>
                <a:rPr lang="en-US" sz="6600" b="true">
                  <a:solidFill>
                    <a:srgbClr val="4F708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EF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DAHU5sRfZH4</dc:identifier>
  <dcterms:modified xsi:type="dcterms:W3CDTF">2011-08-01T06:04:30Z</dcterms:modified>
  <cp:revision>1</cp:revision>
  <dc:title>High-Performance-Text-Searching-KMP (1).pptx</dc:title>
</cp:coreProperties>
</file>