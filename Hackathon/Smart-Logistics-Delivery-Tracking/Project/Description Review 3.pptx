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8" r:id="rId1"/>
  </p:sldMasterIdLst>
  <p:sldIdLst>
    <p:sldId id="256" r:id="rId2"/>
    <p:sldId id="257" r:id="rId3"/>
  </p:sldIdLst>
  <p:sldSz cx="18288000" cy="10287000"/>
  <p:notesSz cx="6858000" cy="9144000"/>
  <p:embeddedFontLst>
    <p:embeddedFont>
      <p:font typeface="Calibri (MS)" panose="020B0604020202020204" charset="0"/>
      <p:regular r:id="rId4"/>
    </p:embeddedFont>
    <p:embeddedFont>
      <p:font typeface="Calibri (MS) Bold" panose="020B0604020202020204" charset="0"/>
      <p:regular r:id="rId5"/>
    </p:embeddedFont>
    <p:embeddedFont>
      <p:font typeface="Georgia" panose="02040502050405020303" pitchFamily="18" charset="0"/>
      <p:regular r:id="rId6"/>
      <p:bold r:id="rId7"/>
      <p:italic r:id="rId8"/>
      <p:boldItalic r:id="rId9"/>
    </p:embeddedFont>
    <p:embeddedFont>
      <p:font typeface="Georgia Bold" panose="02040802050405020203" pitchFamily="18" charset="0"/>
      <p:regular r:id="rId10"/>
      <p:bold r:id="rId11"/>
    </p:embeddedFont>
    <p:embeddedFont>
      <p:font typeface="Times New Roman Bold" panose="02020803070505020304" pitchFamily="18" charset="0"/>
      <p:regular r:id="rId12"/>
      <p:bold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274" y="50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5256" y="1155701"/>
            <a:ext cx="16173450" cy="50292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13200" spc="-18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1269" y="6310314"/>
            <a:ext cx="13842302" cy="2468880"/>
          </a:xfrm>
        </p:spPr>
        <p:txBody>
          <a:bodyPr>
            <a:normAutofit/>
          </a:bodyPr>
          <a:lstStyle>
            <a:lvl1pPr marL="0" indent="0" algn="l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685800" indent="0" algn="ctr">
              <a:buNone/>
              <a:defRPr sz="4200"/>
            </a:lvl2pPr>
            <a:lvl3pPr marL="1371600" indent="0" algn="ctr">
              <a:buNone/>
              <a:defRPr sz="3600"/>
            </a:lvl3pPr>
            <a:lvl4pPr marL="2057400" indent="0" algn="ctr">
              <a:buNone/>
              <a:defRPr sz="3000"/>
            </a:lvl4pPr>
            <a:lvl5pPr marL="2743200" indent="0" algn="ctr">
              <a:buNone/>
              <a:defRPr sz="3000"/>
            </a:lvl5pPr>
            <a:lvl6pPr marL="3429000" indent="0" algn="ctr">
              <a:buNone/>
              <a:defRPr sz="3000"/>
            </a:lvl6pPr>
            <a:lvl7pPr marL="4114800" indent="0" algn="ctr">
              <a:buNone/>
              <a:defRPr sz="3000"/>
            </a:lvl7pPr>
            <a:lvl8pPr marL="4800600" indent="0" algn="ctr">
              <a:buNone/>
              <a:defRPr sz="3000"/>
            </a:lvl8pPr>
            <a:lvl9pPr marL="5486400" indent="0" algn="ctr">
              <a:buNone/>
              <a:defRPr sz="3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759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561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5256" y="1151129"/>
            <a:ext cx="16171164" cy="5033772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132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1268" y="6306314"/>
            <a:ext cx="13839444" cy="2468880"/>
          </a:xfrm>
        </p:spPr>
        <p:txBody>
          <a:bodyPr anchor="t">
            <a:normAutofit/>
          </a:bodyPr>
          <a:lstStyle>
            <a:lvl1pPr marL="0" indent="0">
              <a:buNone/>
              <a:defRPr sz="4800">
                <a:solidFill>
                  <a:schemeClr val="tx1"/>
                </a:solidFill>
                <a:latin typeface="+mj-lt"/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546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4984" y="2997201"/>
            <a:ext cx="6995160" cy="5650992"/>
          </a:xfrm>
        </p:spPr>
        <p:txBody>
          <a:bodyPr/>
          <a:lstStyle>
            <a:lvl1pPr>
              <a:defRPr sz="3600"/>
            </a:lvl1pPr>
            <a:lvl2pPr>
              <a:defRPr sz="30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16995" y="2997201"/>
            <a:ext cx="6995160" cy="5650992"/>
          </a:xfrm>
        </p:spPr>
        <p:txBody>
          <a:bodyPr/>
          <a:lstStyle>
            <a:lvl1pPr>
              <a:defRPr sz="3600"/>
            </a:lvl1pPr>
            <a:lvl2pPr>
              <a:defRPr sz="30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519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4984" y="3060701"/>
            <a:ext cx="6995160" cy="1085100"/>
          </a:xfrm>
        </p:spPr>
        <p:txBody>
          <a:bodyPr anchor="ctr">
            <a:normAutofit/>
          </a:bodyPr>
          <a:lstStyle>
            <a:lvl1pPr marL="0" indent="0">
              <a:buNone/>
              <a:defRPr sz="33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4984" y="4129626"/>
            <a:ext cx="6995160" cy="4800600"/>
          </a:xfrm>
        </p:spPr>
        <p:txBody>
          <a:bodyPr/>
          <a:lstStyle>
            <a:lvl1pPr>
              <a:defRPr sz="3600"/>
            </a:lvl1pPr>
            <a:lvl2pPr>
              <a:defRPr sz="30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011412" y="3057653"/>
            <a:ext cx="6995160" cy="1083564"/>
          </a:xfrm>
        </p:spPr>
        <p:txBody>
          <a:bodyPr anchor="ctr">
            <a:normAutofit/>
          </a:bodyPr>
          <a:lstStyle>
            <a:lvl1pPr marL="0" indent="0">
              <a:buNone/>
              <a:defRPr sz="33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011412" y="4126485"/>
            <a:ext cx="6995160" cy="4800600"/>
          </a:xfrm>
        </p:spPr>
        <p:txBody>
          <a:bodyPr/>
          <a:lstStyle>
            <a:lvl1pPr>
              <a:defRPr sz="3600"/>
            </a:lvl1pPr>
            <a:lvl2pPr>
              <a:defRPr sz="30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823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694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830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30000" y="0"/>
            <a:ext cx="685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12392106" y="813423"/>
            <a:ext cx="5074920" cy="288036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143000"/>
            <a:ext cx="9144000" cy="6858000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413973" y="3767720"/>
            <a:ext cx="5097780" cy="4690481"/>
          </a:xfrm>
        </p:spPr>
        <p:txBody>
          <a:bodyPr>
            <a:normAutofit/>
          </a:bodyPr>
          <a:lstStyle>
            <a:lvl1pPr marL="0" marR="0" indent="0" algn="l" defTabSz="13716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>
                <a:solidFill>
                  <a:srgbClr val="262626"/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44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3836" y="8128001"/>
            <a:ext cx="16171164" cy="919925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8288000" cy="7996428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1200"/>
              </a:spcBef>
              <a:buNone/>
              <a:defRPr sz="4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4984" y="8864603"/>
            <a:ext cx="13844016" cy="8001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2100">
                <a:solidFill>
                  <a:srgbClr val="262626"/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6917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488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115925" y="1042988"/>
            <a:ext cx="3943350" cy="7200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7288" y="1071563"/>
            <a:ext cx="11601450" cy="81010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766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5837" y="749300"/>
            <a:ext cx="16159163" cy="24872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4985" y="3017520"/>
            <a:ext cx="16130588" cy="56492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8700" y="9618671"/>
            <a:ext cx="617220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25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28700" y="9832046"/>
            <a:ext cx="754380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25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45889" y="8814619"/>
            <a:ext cx="4389120" cy="20955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545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273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371600" rtl="0" eaLnBrk="1" latinLnBrk="0" hangingPunct="1">
        <a:lnSpc>
          <a:spcPct val="85000"/>
        </a:lnSpc>
        <a:spcBef>
          <a:spcPct val="0"/>
        </a:spcBef>
        <a:buNone/>
        <a:defRPr sz="8100" kern="1200" spc="-18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1371600" rtl="0" eaLnBrk="1" latinLnBrk="0" hangingPunct="1">
        <a:lnSpc>
          <a:spcPct val="85000"/>
        </a:lnSpc>
        <a:spcBef>
          <a:spcPts val="1950"/>
        </a:spcBef>
        <a:buFont typeface="Arial" pitchFamily="34" charset="0"/>
        <a:buChar char=" "/>
        <a:defRPr sz="3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21208" indent="-514350" algn="l" defTabSz="1371600" rtl="0" eaLnBrk="1" latinLnBrk="0" hangingPunct="1">
        <a:lnSpc>
          <a:spcPct val="85000"/>
        </a:lnSpc>
        <a:spcBef>
          <a:spcPts val="900"/>
        </a:spcBef>
        <a:buFont typeface="Arial" pitchFamily="34" charset="0"/>
        <a:buChar char=" "/>
        <a:defRPr sz="3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22960" indent="-822960" algn="l" defTabSz="1371600" rtl="0" eaLnBrk="1" latinLnBrk="0" hangingPunct="1">
        <a:lnSpc>
          <a:spcPct val="85000"/>
        </a:lnSpc>
        <a:spcBef>
          <a:spcPts val="900"/>
        </a:spcBef>
        <a:buFont typeface="Arial" pitchFamily="34" charset="0"/>
        <a:buChar char=" "/>
        <a:defRPr sz="3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234440" indent="-1234440" algn="l" defTabSz="1371600" rtl="0" eaLnBrk="1" latinLnBrk="0" hangingPunct="1">
        <a:lnSpc>
          <a:spcPct val="85000"/>
        </a:lnSpc>
        <a:spcBef>
          <a:spcPts val="900"/>
        </a:spcBef>
        <a:buFont typeface="Arial" pitchFamily="34" charset="0"/>
        <a:buChar char=" "/>
        <a:defRPr sz="27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645920" indent="-1645920" algn="l" defTabSz="1371600" rtl="0" eaLnBrk="1" latinLnBrk="0" hangingPunct="1">
        <a:lnSpc>
          <a:spcPct val="85000"/>
        </a:lnSpc>
        <a:spcBef>
          <a:spcPts val="900"/>
        </a:spcBef>
        <a:buFont typeface="Arial" pitchFamily="34" charset="0"/>
        <a:buChar char=" "/>
        <a:defRPr sz="27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800000" indent="-342900" algn="l" defTabSz="1371600" rtl="0" eaLnBrk="1" latinLnBrk="0" hangingPunct="1">
        <a:lnSpc>
          <a:spcPct val="85000"/>
        </a:lnSpc>
        <a:spcBef>
          <a:spcPts val="900"/>
        </a:spcBef>
        <a:buFont typeface="Arial" pitchFamily="34" charset="0"/>
        <a:buChar char=" "/>
        <a:defRPr sz="27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100000" indent="-342900" algn="l" defTabSz="1371600" rtl="0" eaLnBrk="1" latinLnBrk="0" hangingPunct="1">
        <a:lnSpc>
          <a:spcPct val="85000"/>
        </a:lnSpc>
        <a:spcBef>
          <a:spcPts val="900"/>
        </a:spcBef>
        <a:buFont typeface="Arial" pitchFamily="34" charset="0"/>
        <a:buChar char=" "/>
        <a:defRPr sz="27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400000" indent="-342900" algn="l" defTabSz="1371600" rtl="0" eaLnBrk="1" latinLnBrk="0" hangingPunct="1">
        <a:lnSpc>
          <a:spcPct val="85000"/>
        </a:lnSpc>
        <a:spcBef>
          <a:spcPts val="900"/>
        </a:spcBef>
        <a:buFont typeface="Arial" pitchFamily="34" charset="0"/>
        <a:buChar char=" "/>
        <a:defRPr sz="27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700000" indent="-342900" algn="l" defTabSz="1371600" rtl="0" eaLnBrk="1" latinLnBrk="0" hangingPunct="1">
        <a:lnSpc>
          <a:spcPct val="85000"/>
        </a:lnSpc>
        <a:spcBef>
          <a:spcPts val="900"/>
        </a:spcBef>
        <a:buFont typeface="Arial" pitchFamily="34" charset="0"/>
        <a:buChar char=" "/>
        <a:defRPr sz="27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6675"/>
            <a:ext cx="3152775" cy="1350169"/>
            <a:chOff x="0" y="0"/>
            <a:chExt cx="4203700" cy="1800225"/>
          </a:xfrm>
        </p:grpSpPr>
        <p:sp>
          <p:nvSpPr>
            <p:cNvPr id="3" name="Freeform 3" descr="KL University Hyderabad"/>
            <p:cNvSpPr/>
            <p:nvPr/>
          </p:nvSpPr>
          <p:spPr>
            <a:xfrm>
              <a:off x="0" y="0"/>
              <a:ext cx="4203700" cy="1800225"/>
            </a:xfrm>
            <a:custGeom>
              <a:avLst/>
              <a:gdLst/>
              <a:ahLst/>
              <a:cxnLst/>
              <a:rect l="l" t="t" r="r" b="b"/>
              <a:pathLst>
                <a:path w="4203700" h="1800225">
                  <a:moveTo>
                    <a:pt x="0" y="0"/>
                  </a:moveTo>
                  <a:lnTo>
                    <a:pt x="4203700" y="0"/>
                  </a:lnTo>
                  <a:lnTo>
                    <a:pt x="4203700" y="1800225"/>
                  </a:lnTo>
                  <a:lnTo>
                    <a:pt x="0" y="1800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7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10217944"/>
            <a:ext cx="18288000" cy="69056"/>
            <a:chOff x="0" y="0"/>
            <a:chExt cx="24384000" cy="920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92075"/>
            </a:xfrm>
            <a:custGeom>
              <a:avLst/>
              <a:gdLst/>
              <a:ahLst/>
              <a:cxnLst/>
              <a:rect l="l" t="t" r="r" b="b"/>
              <a:pathLst>
                <a:path w="24384000" h="92075">
                  <a:moveTo>
                    <a:pt x="0" y="0"/>
                  </a:moveTo>
                  <a:lnTo>
                    <a:pt x="24384000" y="0"/>
                  </a:lnTo>
                  <a:lnTo>
                    <a:pt x="24384000" y="92075"/>
                  </a:lnTo>
                  <a:lnTo>
                    <a:pt x="0" y="92075"/>
                  </a:lnTo>
                  <a:close/>
                </a:path>
              </a:pathLst>
            </a:custGeom>
            <a:solidFill>
              <a:srgbClr val="BA2532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18288000" cy="69056"/>
            <a:chOff x="0" y="0"/>
            <a:chExt cx="24384000" cy="920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92075"/>
            </a:xfrm>
            <a:custGeom>
              <a:avLst/>
              <a:gdLst/>
              <a:ahLst/>
              <a:cxnLst/>
              <a:rect l="l" t="t" r="r" b="b"/>
              <a:pathLst>
                <a:path w="24384000" h="92075">
                  <a:moveTo>
                    <a:pt x="0" y="0"/>
                  </a:moveTo>
                  <a:lnTo>
                    <a:pt x="24384000" y="0"/>
                  </a:lnTo>
                  <a:lnTo>
                    <a:pt x="24384000" y="92075"/>
                  </a:lnTo>
                  <a:lnTo>
                    <a:pt x="0" y="92075"/>
                  </a:lnTo>
                  <a:close/>
                </a:path>
              </a:pathLst>
            </a:custGeom>
            <a:solidFill>
              <a:srgbClr val="BA2532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4505325" cy="4505325"/>
            <a:chOff x="0" y="0"/>
            <a:chExt cx="6007100" cy="6007100"/>
          </a:xfrm>
        </p:grpSpPr>
        <p:sp>
          <p:nvSpPr>
            <p:cNvPr id="9" name="Freeform 9" descr="Background pattern  Description automatically generated"/>
            <p:cNvSpPr/>
            <p:nvPr/>
          </p:nvSpPr>
          <p:spPr>
            <a:xfrm>
              <a:off x="0" y="0"/>
              <a:ext cx="6007100" cy="6007100"/>
            </a:xfrm>
            <a:custGeom>
              <a:avLst/>
              <a:gdLst/>
              <a:ahLst/>
              <a:cxnLst/>
              <a:rect l="l" t="t" r="r" b="b"/>
              <a:pathLst>
                <a:path w="6007100" h="6007100">
                  <a:moveTo>
                    <a:pt x="0" y="0"/>
                  </a:moveTo>
                  <a:lnTo>
                    <a:pt x="6007100" y="0"/>
                  </a:lnTo>
                  <a:lnTo>
                    <a:pt x="6007100" y="6007100"/>
                  </a:lnTo>
                  <a:lnTo>
                    <a:pt x="0" y="6007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0" y="-1868919"/>
            <a:ext cx="18288000" cy="7088619"/>
            <a:chOff x="0" y="0"/>
            <a:chExt cx="24632113" cy="938299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632114" cy="9382992"/>
            </a:xfrm>
            <a:custGeom>
              <a:avLst/>
              <a:gdLst/>
              <a:ahLst/>
              <a:cxnLst/>
              <a:rect l="l" t="t" r="r" b="b"/>
              <a:pathLst>
                <a:path w="24632114" h="9382992">
                  <a:moveTo>
                    <a:pt x="0" y="0"/>
                  </a:moveTo>
                  <a:lnTo>
                    <a:pt x="24632114" y="0"/>
                  </a:lnTo>
                  <a:lnTo>
                    <a:pt x="24632114" y="9382992"/>
                  </a:lnTo>
                  <a:lnTo>
                    <a:pt x="0" y="93829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76200"/>
              <a:ext cx="24632113" cy="9459193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9180"/>
                </a:lnSpc>
              </a:pPr>
              <a:endParaRPr/>
            </a:p>
            <a:p>
              <a:pPr algn="ctr">
                <a:lnSpc>
                  <a:spcPts val="5940"/>
                </a:lnSpc>
              </a:pPr>
              <a:endParaRPr/>
            </a:p>
            <a:p>
              <a:pPr algn="ctr">
                <a:lnSpc>
                  <a:spcPts val="4536"/>
                </a:lnSpc>
              </a:pPr>
              <a:r>
                <a:rPr lang="en-US" sz="4200" b="1">
                  <a:solidFill>
                    <a:srgbClr val="C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Structures and Algorithms -3 (25CS2103E)</a:t>
              </a:r>
            </a:p>
            <a:p>
              <a:pPr algn="ctr">
                <a:lnSpc>
                  <a:spcPts val="4536"/>
                </a:lnSpc>
              </a:pPr>
              <a:endParaRPr lang="en-US" sz="4200" b="1">
                <a:solidFill>
                  <a:srgbClr val="C00000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  <a:p>
              <a:pPr algn="ctr">
                <a:lnSpc>
                  <a:spcPts val="4536"/>
                </a:lnSpc>
              </a:pPr>
              <a:r>
                <a:rPr lang="en-US" sz="4200" b="1">
                  <a:solidFill>
                    <a:srgbClr val="C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High-Performance Medical Information Search System</a:t>
              </a:r>
            </a:p>
            <a:p>
              <a:pPr algn="ctr">
                <a:lnSpc>
                  <a:spcPts val="4536"/>
                </a:lnSpc>
              </a:pPr>
              <a:r>
                <a:rPr lang="en-US" sz="4200" b="1">
                  <a:solidFill>
                    <a:srgbClr val="C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</a:p>
            <a:p>
              <a:pPr algn="ctr">
                <a:lnSpc>
                  <a:spcPts val="5940"/>
                </a:lnSpc>
              </a:pPr>
              <a:endParaRPr lang="en-US" sz="4200" b="1">
                <a:solidFill>
                  <a:srgbClr val="C00000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627169" y="6993336"/>
            <a:ext cx="6644049" cy="3029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8"/>
              </a:lnSpc>
            </a:pPr>
            <a:endParaRPr/>
          </a:p>
          <a:p>
            <a:pPr algn="ctr">
              <a:lnSpc>
                <a:spcPts val="3466"/>
              </a:lnSpc>
            </a:pPr>
            <a:endParaRPr/>
          </a:p>
          <a:p>
            <a:pPr algn="ctr">
              <a:lnSpc>
                <a:spcPts val="3466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Esteemed Guidance of</a:t>
            </a:r>
          </a:p>
          <a:p>
            <a:pPr algn="ctr">
              <a:lnSpc>
                <a:spcPts val="3466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 Madhavi</a:t>
            </a:r>
          </a:p>
          <a:p>
            <a:pPr algn="ctr">
              <a:lnSpc>
                <a:spcPts val="3466"/>
              </a:lnSpc>
            </a:pPr>
            <a:endParaRPr lang="en-US" sz="2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2916"/>
              </a:lnSpc>
            </a:pPr>
            <a:endParaRPr lang="en-US" sz="2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2916"/>
              </a:lnSpc>
            </a:pPr>
            <a:endParaRPr lang="en-US" sz="2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2792911" y="4760430"/>
          <a:ext cx="13716000" cy="2590800"/>
        </p:xfrm>
        <a:graphic>
          <a:graphicData uri="http://schemas.openxmlformats.org/drawingml/2006/table">
            <a:tbl>
              <a:tblPr/>
              <a:tblGrid>
                <a:gridCol w="685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4F7089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Team Member</a:t>
                      </a:r>
                      <a:endParaRPr lang="en-US" sz="1100"/>
                    </a:p>
                  </a:txBody>
                  <a:tcPr marL="127000" marR="127000" marT="127000" marB="127000" anchor="ctr">
                    <a:lnL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4F7089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Roll Number</a:t>
                      </a:r>
                      <a:endParaRPr lang="en-US" sz="1100"/>
                    </a:p>
                  </a:txBody>
                  <a:tcPr marL="127000" marR="127000" marT="127000" marB="127000" anchor="ctr">
                    <a:lnL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1">
                          <a:solidFill>
                            <a:srgbClr val="5C4632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Vaishali</a:t>
                      </a:r>
                      <a:endParaRPr lang="en-US" sz="1100"/>
                    </a:p>
                  </a:txBody>
                  <a:tcPr marL="127000" marR="127000" marT="127000" marB="127000" anchor="ctr">
                    <a:lnL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5C4632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2520030117</a:t>
                      </a:r>
                      <a:endParaRPr lang="en-US" sz="1100"/>
                    </a:p>
                  </a:txBody>
                  <a:tcPr marL="127000" marR="127000" marT="127000" marB="127000" anchor="ctr">
                    <a:lnL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1">
                          <a:solidFill>
                            <a:srgbClr val="5C4632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Bindhu Madhavi</a:t>
                      </a:r>
                      <a:endParaRPr lang="en-US" sz="1100"/>
                    </a:p>
                  </a:txBody>
                  <a:tcPr marL="127000" marR="127000" marT="127000" marB="127000" anchor="ctr">
                    <a:lnL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5C4632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2520030077</a:t>
                      </a:r>
                      <a:endParaRPr lang="en-US" sz="1100"/>
                    </a:p>
                  </a:txBody>
                  <a:tcPr marL="127000" marR="127000" marT="127000" marB="127000" anchor="ctr">
                    <a:lnL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1">
                          <a:solidFill>
                            <a:srgbClr val="5C4632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Sri Kruthi</a:t>
                      </a:r>
                      <a:endParaRPr lang="en-US" sz="1100"/>
                    </a:p>
                  </a:txBody>
                  <a:tcPr marL="127000" marR="127000" marT="127000" marB="127000" anchor="ctr">
                    <a:lnL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5C4632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2520030340</a:t>
                      </a:r>
                      <a:endParaRPr lang="en-US" sz="1100"/>
                    </a:p>
                  </a:txBody>
                  <a:tcPr marL="127000" marR="127000" marT="127000" marB="127000" anchor="ctr">
                    <a:lnL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6675"/>
            <a:ext cx="3152775" cy="1350169"/>
            <a:chOff x="0" y="0"/>
            <a:chExt cx="4203700" cy="1800225"/>
          </a:xfrm>
        </p:grpSpPr>
        <p:sp>
          <p:nvSpPr>
            <p:cNvPr id="3" name="Freeform 3" descr="KL University Hyderabad"/>
            <p:cNvSpPr/>
            <p:nvPr/>
          </p:nvSpPr>
          <p:spPr>
            <a:xfrm>
              <a:off x="0" y="0"/>
              <a:ext cx="4203700" cy="1800225"/>
            </a:xfrm>
            <a:custGeom>
              <a:avLst/>
              <a:gdLst/>
              <a:ahLst/>
              <a:cxnLst/>
              <a:rect l="l" t="t" r="r" b="b"/>
              <a:pathLst>
                <a:path w="4203700" h="1800225">
                  <a:moveTo>
                    <a:pt x="0" y="0"/>
                  </a:moveTo>
                  <a:lnTo>
                    <a:pt x="4203700" y="0"/>
                  </a:lnTo>
                  <a:lnTo>
                    <a:pt x="4203700" y="1800225"/>
                  </a:lnTo>
                  <a:lnTo>
                    <a:pt x="0" y="1800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7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10217944"/>
            <a:ext cx="18288000" cy="69056"/>
            <a:chOff x="0" y="0"/>
            <a:chExt cx="24384000" cy="920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92075"/>
            </a:xfrm>
            <a:custGeom>
              <a:avLst/>
              <a:gdLst/>
              <a:ahLst/>
              <a:cxnLst/>
              <a:rect l="l" t="t" r="r" b="b"/>
              <a:pathLst>
                <a:path w="24384000" h="92075">
                  <a:moveTo>
                    <a:pt x="0" y="0"/>
                  </a:moveTo>
                  <a:lnTo>
                    <a:pt x="24384000" y="0"/>
                  </a:lnTo>
                  <a:lnTo>
                    <a:pt x="24384000" y="92075"/>
                  </a:lnTo>
                  <a:lnTo>
                    <a:pt x="0" y="92075"/>
                  </a:lnTo>
                  <a:close/>
                </a:path>
              </a:pathLst>
            </a:custGeom>
            <a:solidFill>
              <a:srgbClr val="BA2532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18288000" cy="69056"/>
            <a:chOff x="0" y="0"/>
            <a:chExt cx="24384000" cy="920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92075"/>
            </a:xfrm>
            <a:custGeom>
              <a:avLst/>
              <a:gdLst/>
              <a:ahLst/>
              <a:cxnLst/>
              <a:rect l="l" t="t" r="r" b="b"/>
              <a:pathLst>
                <a:path w="24384000" h="92075">
                  <a:moveTo>
                    <a:pt x="0" y="0"/>
                  </a:moveTo>
                  <a:lnTo>
                    <a:pt x="24384000" y="0"/>
                  </a:lnTo>
                  <a:lnTo>
                    <a:pt x="24384000" y="92075"/>
                  </a:lnTo>
                  <a:lnTo>
                    <a:pt x="0" y="92075"/>
                  </a:lnTo>
                  <a:close/>
                </a:path>
              </a:pathLst>
            </a:custGeom>
            <a:solidFill>
              <a:srgbClr val="BA2532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2020386" y="2360962"/>
            <a:ext cx="14619294" cy="5731156"/>
            <a:chOff x="0" y="0"/>
            <a:chExt cx="19492392" cy="764154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492392" cy="7641545"/>
            </a:xfrm>
            <a:custGeom>
              <a:avLst/>
              <a:gdLst/>
              <a:ahLst/>
              <a:cxnLst/>
              <a:rect l="l" t="t" r="r" b="b"/>
              <a:pathLst>
                <a:path w="19492392" h="7641545">
                  <a:moveTo>
                    <a:pt x="0" y="0"/>
                  </a:moveTo>
                  <a:lnTo>
                    <a:pt x="19492392" y="0"/>
                  </a:lnTo>
                  <a:lnTo>
                    <a:pt x="19492392" y="7641545"/>
                  </a:lnTo>
                  <a:lnTo>
                    <a:pt x="0" y="76415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21" b="9214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9492392" cy="7698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endParaRPr/>
            </a:p>
            <a:p>
              <a:pPr marL="488632" lvl="1" indent="-244316" algn="l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High-Performance Medical Information Search System is designed for fast retrieval of medical information. </a:t>
              </a:r>
            </a:p>
            <a:p>
              <a:pPr marL="488632" lvl="1" indent="-244316" algn="l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system contains a medical corpus with 100 medical records and a database of 2,000 patient records. </a:t>
              </a:r>
            </a:p>
            <a:p>
              <a:pPr marL="488632" lvl="1" indent="-244316" algn="l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Users can search medical information using keywords such as diseases, symptoms, and conditions. </a:t>
              </a:r>
            </a:p>
            <a:p>
              <a:pPr marL="488632" lvl="1" indent="-244316" algn="l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KMP, Z-Function, and Rabin-Karp algorithms are used for string searching. </a:t>
              </a:r>
            </a:p>
            <a:p>
              <a:pPr marL="488632" lvl="1" indent="-244316" algn="l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Dynamic Programming techniques such as Edit Distance and LCS are also implemented. </a:t>
              </a:r>
            </a:p>
            <a:p>
              <a:pPr marL="488632" lvl="1" indent="-244316" algn="l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system also performs patient symptom searching and displays matching patient records. </a:t>
              </a:r>
            </a:p>
            <a:p>
              <a:pPr marL="488632" lvl="1" indent="-244316" algn="l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main objective is to provide fast and efficient medical information retrieval. 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7135274" y="1369219"/>
            <a:ext cx="3038772" cy="679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2"/>
              </a:lnSpc>
              <a:spcBef>
                <a:spcPct val="0"/>
              </a:spcBef>
            </a:pPr>
            <a:r>
              <a:rPr lang="en-US" sz="4200" b="1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ABSTRACT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Metropolitan</Template>
  <TotalTime>1</TotalTime>
  <Words>137</Words>
  <Application>Microsoft Office PowerPoint</Application>
  <PresentationFormat>Custom</PresentationFormat>
  <Paragraphs>28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Georgia Bold</vt:lpstr>
      <vt:lpstr>Arial</vt:lpstr>
      <vt:lpstr>Georgia</vt:lpstr>
      <vt:lpstr>Calibri (MS)</vt:lpstr>
      <vt:lpstr>Calibri Light</vt:lpstr>
      <vt:lpstr>Calibri (MS) Bold</vt:lpstr>
      <vt:lpstr>Times New Roman</vt:lpstr>
      <vt:lpstr>Times New Roman Bold</vt:lpstr>
      <vt:lpstr>Metropolitan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DSA-3_Project PPT.pptx</dc:title>
  <dc:creator>bindhu</dc:creator>
  <cp:lastModifiedBy>Bindhu Madhavi P</cp:lastModifiedBy>
  <cp:revision>2</cp:revision>
  <dcterms:created xsi:type="dcterms:W3CDTF">2006-08-16T00:00:00Z</dcterms:created>
  <dcterms:modified xsi:type="dcterms:W3CDTF">2026-09-21T17:42:10Z</dcterms:modified>
  <dc:identifier>DAHV2NdB2oo</dc:identifier>
</cp:coreProperties>
</file>