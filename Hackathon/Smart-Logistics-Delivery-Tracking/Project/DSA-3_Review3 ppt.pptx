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000" y="1150000"/>
            <a:ext cx="9192000" cy="150000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0"/>
              </a:spcAft>
            </a:pPr>
            <a:r>
              <a:rPr lang="en-US" sz="28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28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Electronic Medical Health Records</a:t>
            </a:r>
          </a:p>
        </p:txBody>
      </p:sp>
      <p:graphicFrame>
        <p:nvGraphicFramePr>
          <p:cNvPr id="4" name="Team Table"/>
          <p:cNvGraphicFramePr>
            <a:graphicFrameLocks noGrp="1"/>
          </p:cNvGraphicFramePr>
          <p:nvPr/>
        </p:nvGraphicFramePr>
        <p:xfrm>
          <a:off x="2996000" y="3000000"/>
          <a:ext cx="6200000" cy="1680000"/>
        </p:xfrm>
        <a:graphic>
          <a:graphicData uri="http://schemas.openxmlformats.org/drawingml/2006/table">
            <a:tbl>
              <a:tblPr/>
              <a:tblGrid>
                <a:gridCol w="3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Team Member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/>
                        </a:rPr>
                        <a:t>Roll Number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Vaishali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2520030117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Bindhu Madhavi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2520030077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Sri Kruthi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0" dirty="0">
                          <a:solidFill>
                            <a:srgbClr val="262626"/>
                          </a:solidFill>
                          <a:latin typeface="Arial"/>
                        </a:rPr>
                        <a:t>2520030340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6000" y="5000000"/>
            <a:ext cx="7000000" cy="120000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Under the Esteemed Guidance of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S.Madhavi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1250000"/>
            <a:ext cx="7000000" cy="48000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</a:t>
            </a:r>
          </a:p>
          <a:p>
            <a:pPr marL="457200" indent="-4572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B966C8C-0E2F-C0BE-F4FE-EF852B4B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500000"/>
            <a:ext cx="10400000" cy="460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altLang="en-US" sz="2000" dirty="0">
                <a:latin typeface="Arial" panose="020B0604020202020204" pitchFamily="34" charset="0"/>
              </a:rPr>
              <a:t>Electronic Medical Health Records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designed for fast retrieval of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contains a medical corpus with 100 medical records and a database of 2,000 patient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search medical information using keywords such as diseases, symptoms, and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KMP, Z-Function, and Rabin-Karp algorithms are used for string searching.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Programming techniques such as Edit Distance and LCS are also implemented.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also performs patient symptom searching and displays matching patient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main objective is to provide fast and efficient medical information retrieval.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8E5EF56-11BF-4BC5-4A4E-F78A4793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500000"/>
            <a:ext cx="10400000" cy="4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datasets contain a large amount of information about diseases, symptoms, and patient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Searching this information efficiently is important for quick retrieval of relevant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 provides keyword-based searching over medical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includes Dynamic Programming techniques for additional text-processing and optimization operations.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patient database containing 2,000 generated patient records is used for symptom-based searching.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demonstrates how Data Structures and Algorithms can be applied to a real-world medical search problem.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advanced string-matching algorithms such as KMP, Z-Function, and Rabin-Karp.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E6FC87-C3A0-BD0F-80E7-DDDF327B5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937263"/>
              </p:ext>
            </p:extLst>
          </p:nvPr>
        </p:nvGraphicFramePr>
        <p:xfrm>
          <a:off x="896000" y="1800000"/>
          <a:ext cx="10400000" cy="4480000"/>
        </p:xfrm>
        <a:graphic>
          <a:graphicData uri="http://schemas.openxmlformats.org/drawingml/2006/table">
            <a:tbl>
              <a:tblPr/>
              <a:tblGrid>
                <a:gridCol w="800000">
                  <a:extLst>
                    <a:ext uri="{9D8B030D-6E8A-4147-A177-3AD203B41FA5}">
                      <a16:colId xmlns:a16="http://schemas.microsoft.com/office/drawing/2014/main" val="603074675"/>
                    </a:ext>
                  </a:extLst>
                </a:gridCol>
                <a:gridCol w="4300000">
                  <a:extLst>
                    <a:ext uri="{9D8B030D-6E8A-4147-A177-3AD203B41FA5}">
                      <a16:colId xmlns:a16="http://schemas.microsoft.com/office/drawing/2014/main" val="302076901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114221328"/>
                    </a:ext>
                  </a:extLst>
                </a:gridCol>
                <a:gridCol w="4400000">
                  <a:extLst>
                    <a:ext uri="{9D8B030D-6E8A-4147-A177-3AD203B41FA5}">
                      <a16:colId xmlns:a16="http://schemas.microsoft.com/office/drawing/2014/main" val="2984977817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S.No.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Research Paper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500" b="1">
                          <a:solidFill>
                            <a:srgbClr val="FFFFFF"/>
                          </a:solidFill>
                        </a:rPr>
                        <a:t>Main Contribution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C2C2"/>
                      </a:solidFill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78059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/>
                        <a:t>Clinical Information Retrieval: A Literature Review – </a:t>
                      </a:r>
                      <a:r>
                        <a:rPr lang="en-IN" sz="1400" b="1" dirty="0" err="1"/>
                        <a:t>Sivarajkumar</a:t>
                      </a:r>
                      <a:r>
                        <a:rPr lang="en-IN" sz="1400" b="1" dirty="0"/>
                        <a:t> et al.</a:t>
                      </a:r>
                      <a:endParaRPr lang="en-IN" sz="1300" dirty="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Reviews clinical information retrieval methods and techniques for searching medical information.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133131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Large Language Models to Process, Analyze, and Synthesize Biomedical Texts – Doneva et al.</a:t>
                      </a:r>
                      <a:endParaRPr lang="en-US" sz="1300" dirty="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Studies LLMs for biomedical text processing, knowledge management, text mining and evidence synthesis.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382654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/>
                        <a:t>BiomedRAG: A Retrieval Augmented Large Language Model for Biomedicine – Li et al.</a:t>
                      </a:r>
                      <a:endParaRPr lang="en-IN" sz="130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Uses retrieval techniques to obtain relevant biomedical information for biomedical NLP tasks. 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509646"/>
                  </a:ext>
                </a:extLst>
              </a:tr>
              <a:tr h="10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/>
                        <a:t>Evaluating Search Engines and Large Language Models for Answering Health Questions – Fernández-Pichel et al.</a:t>
                      </a:r>
                      <a:endParaRPr lang="en-US" sz="1300"/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Compares search engines, LLMs and RAG approaches for health-related questions.</a:t>
                      </a:r>
                    </a:p>
                  </a:txBody>
                  <a:tcPr marL="114300" marR="114300" marT="60000" marB="600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C2C2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94799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8A4BD18-7EF2-2360-F35C-2F94E4448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050000"/>
            <a:ext cx="10400000" cy="4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Literature Survey — 4 Recent Papers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896000" y="1500000"/>
            <a:ext cx="5000000" cy="3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Problem Statement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Medical information can contain a large number of records.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Finding relevant information manually can take more time.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Simple searching becomes less efficient as the data increases.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A fast and efficient medical information search system is required.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6296000" y="1500000"/>
            <a:ext cx="5000000" cy="3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C00000"/>
                </a:solidFill>
              </a:rPr>
              <a:t>Objectives</a:t>
            </a:r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Develop a </a:t>
            </a:r>
            <a:r>
              <a:rPr lang="en-US" dirty="0"/>
              <a:t>Electronic Medical Health Records.</a:t>
            </a:r>
            <a:endParaRPr lang="en-US" sz="1800" dirty="0"/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Search medical records using user-entered keywords.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Implement </a:t>
            </a:r>
            <a:r>
              <a:rPr lang="en-US" sz="1800" b="1" dirty="0"/>
              <a:t>KMP, Z-Function and Rabin-Karp</a:t>
            </a:r>
            <a:r>
              <a:rPr lang="en-US" sz="1800" dirty="0"/>
              <a:t> algorithms.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Search patient records based on symptoms.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Apply Dynamic Programming techniques.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lang="en-US" sz="1800" dirty="0"/>
              <a:t>Retrieve relevant medical information quickly and efficiently.</a:t>
            </a:r>
          </a:p>
        </p:txBody>
      </p:sp>
      <p:sp>
        <p:nvSpPr>
          <p:cNvPr id="7" name="Note">
            <a:extLst>
              <a:ext uri="{FF2B5EF4-FFF2-40B4-BE49-F238E27FC236}">
                <a16:creationId xmlns:a16="http://schemas.microsoft.com/office/drawing/2014/main" id="{4BA452C9-92D9-56D2-6B33-ABCA2FC302E0}"/>
              </a:ext>
            </a:extLst>
          </p:cNvPr>
          <p:cNvSpPr txBox="1"/>
          <p:nvPr/>
        </p:nvSpPr>
        <p:spPr>
          <a:xfrm>
            <a:off x="896000" y="5950000"/>
            <a:ext cx="1040000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Your implementation contains </a:t>
            </a:r>
            <a:r>
              <a:rPr lang="en-US" b="1" dirty="0"/>
              <a:t>2</a:t>
            </a:r>
            <a:r>
              <a:rPr lang="en-US" sz="1800" b="1" dirty="0"/>
              <a:t>00 medical records</a:t>
            </a:r>
            <a:r>
              <a:rPr lang="en-US" sz="1800" dirty="0"/>
              <a:t> and </a:t>
            </a:r>
            <a:r>
              <a:rPr lang="en-US" sz="1800" b="1" dirty="0"/>
              <a:t>2,000 patient records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21" name="Step START"/>
          <p:cNvSpPr/>
          <p:nvPr/>
        </p:nvSpPr>
        <p:spPr>
          <a:xfrm>
            <a:off x="2896000" y="1000000"/>
            <a:ext cx="6400000" cy="360000"/>
          </a:xfrm>
          <a:prstGeom prst="roundRect">
            <a:avLst/>
          </a:prstGeom>
          <a:solidFill>
            <a:srgbClr val="C00000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</a:rPr>
              <a:t>START</a:t>
            </a:r>
          </a:p>
        </p:txBody>
      </p:sp>
      <p:sp>
        <p:nvSpPr>
          <p:cNvPr id="22" name="Arrow 1360000"/>
          <p:cNvSpPr/>
          <p:nvPr/>
        </p:nvSpPr>
        <p:spPr>
          <a:xfrm>
            <a:off x="5986000" y="138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Step Load Medical"/>
          <p:cNvSpPr/>
          <p:nvPr/>
        </p:nvSpPr>
        <p:spPr>
          <a:xfrm>
            <a:off x="2896000" y="152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Load Medical Records and Patient Database</a:t>
            </a:r>
          </a:p>
        </p:txBody>
      </p:sp>
      <p:sp>
        <p:nvSpPr>
          <p:cNvPr id="24" name="Arrow 1880000"/>
          <p:cNvSpPr/>
          <p:nvPr/>
        </p:nvSpPr>
        <p:spPr>
          <a:xfrm>
            <a:off x="5986000" y="190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Step Enter Medica"/>
          <p:cNvSpPr/>
          <p:nvPr/>
        </p:nvSpPr>
        <p:spPr>
          <a:xfrm>
            <a:off x="2896000" y="204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Enter Medical Keyword</a:t>
            </a:r>
          </a:p>
        </p:txBody>
      </p:sp>
      <p:sp>
        <p:nvSpPr>
          <p:cNvPr id="26" name="Arrow 2400000"/>
          <p:cNvSpPr/>
          <p:nvPr/>
        </p:nvSpPr>
        <p:spPr>
          <a:xfrm>
            <a:off x="5986000" y="242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Step Search Medic"/>
          <p:cNvSpPr/>
          <p:nvPr/>
        </p:nvSpPr>
        <p:spPr>
          <a:xfrm>
            <a:off x="2896000" y="256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Search Medical Records using KMP</a:t>
            </a:r>
          </a:p>
        </p:txBody>
      </p:sp>
      <p:sp>
        <p:nvSpPr>
          <p:cNvPr id="28" name="Arrow 2920000"/>
          <p:cNvSpPr/>
          <p:nvPr/>
        </p:nvSpPr>
        <p:spPr>
          <a:xfrm>
            <a:off x="5986000" y="294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Step Match Found?"/>
          <p:cNvSpPr/>
          <p:nvPr/>
        </p:nvSpPr>
        <p:spPr>
          <a:xfrm>
            <a:off x="2896000" y="308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Match Found?</a:t>
            </a:r>
          </a:p>
        </p:txBody>
      </p:sp>
      <p:sp>
        <p:nvSpPr>
          <p:cNvPr id="30" name="Arrow 3440000"/>
          <p:cNvSpPr/>
          <p:nvPr/>
        </p:nvSpPr>
        <p:spPr>
          <a:xfrm>
            <a:off x="5986000" y="346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tep Yes → Z-Func"/>
          <p:cNvSpPr/>
          <p:nvPr/>
        </p:nvSpPr>
        <p:spPr>
          <a:xfrm>
            <a:off x="2896000" y="360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Yes → Z-Function + Rabin-Karp Verification</a:t>
            </a:r>
          </a:p>
        </p:txBody>
      </p:sp>
      <p:sp>
        <p:nvSpPr>
          <p:cNvPr id="32" name="Arrow 3960000"/>
          <p:cNvSpPr/>
          <p:nvPr/>
        </p:nvSpPr>
        <p:spPr>
          <a:xfrm>
            <a:off x="5986000" y="398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Step Patient Symp"/>
          <p:cNvSpPr/>
          <p:nvPr/>
        </p:nvSpPr>
        <p:spPr>
          <a:xfrm>
            <a:off x="2896000" y="412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Patient Symptom Search</a:t>
            </a:r>
          </a:p>
        </p:txBody>
      </p:sp>
      <p:sp>
        <p:nvSpPr>
          <p:cNvPr id="34" name="Arrow 4480000"/>
          <p:cNvSpPr/>
          <p:nvPr/>
        </p:nvSpPr>
        <p:spPr>
          <a:xfrm>
            <a:off x="5986000" y="450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Step Dynamic Prog"/>
          <p:cNvSpPr/>
          <p:nvPr/>
        </p:nvSpPr>
        <p:spPr>
          <a:xfrm>
            <a:off x="2896000" y="464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Dynamic Programming Processing</a:t>
            </a:r>
          </a:p>
        </p:txBody>
      </p:sp>
      <p:sp>
        <p:nvSpPr>
          <p:cNvPr id="36" name="Arrow 5000000"/>
          <p:cNvSpPr/>
          <p:nvPr/>
        </p:nvSpPr>
        <p:spPr>
          <a:xfrm>
            <a:off x="5986000" y="502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Step Display Sear"/>
          <p:cNvSpPr/>
          <p:nvPr/>
        </p:nvSpPr>
        <p:spPr>
          <a:xfrm>
            <a:off x="2896000" y="5160000"/>
            <a:ext cx="6400000" cy="36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262626"/>
                </a:solidFill>
                <a:latin typeface="Arial"/>
              </a:rPr>
              <a:t>Display Search Results</a:t>
            </a:r>
          </a:p>
        </p:txBody>
      </p:sp>
      <p:sp>
        <p:nvSpPr>
          <p:cNvPr id="38" name="Arrow 5520000"/>
          <p:cNvSpPr/>
          <p:nvPr/>
        </p:nvSpPr>
        <p:spPr>
          <a:xfrm>
            <a:off x="5986000" y="5540000"/>
            <a:ext cx="220000" cy="12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Step END"/>
          <p:cNvSpPr/>
          <p:nvPr/>
        </p:nvSpPr>
        <p:spPr>
          <a:xfrm>
            <a:off x="2896000" y="5680000"/>
            <a:ext cx="6400000" cy="360000"/>
          </a:xfrm>
          <a:prstGeom prst="roundRect">
            <a:avLst/>
          </a:prstGeom>
          <a:solidFill>
            <a:srgbClr val="C00000"/>
          </a:solidFill>
          <a:ln w="15875">
            <a:solidFill>
              <a:srgbClr val="C00000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rial"/>
              </a:rPr>
              <a:t>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8EEF704-F481-5CA9-0663-709E93E055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938215"/>
            <a:ext cx="2801815" cy="283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803F52DC-0B8D-D992-BC5D-243664F65C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3892"/>
            <a:ext cx="3755292" cy="3755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F8F585-AF2A-2341-FBB7-A12A676C3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4" y="1177198"/>
            <a:ext cx="3368332" cy="43590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C2D69A-437F-D96D-9FAF-64F9CB5BD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973" y="1116233"/>
            <a:ext cx="3017782" cy="441998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E1A4596-89AD-7AAD-D5D9-E62CAA75B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303" y="1146597"/>
            <a:ext cx="3055885" cy="44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31901E-EFEC-2E8F-A27F-07871BF11946}"/>
              </a:ext>
            </a:extLst>
          </p:cNvPr>
          <p:cNvSpPr txBox="1"/>
          <p:nvPr/>
        </p:nvSpPr>
        <p:spPr>
          <a:xfrm>
            <a:off x="896000" y="2400000"/>
            <a:ext cx="5000000" cy="3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800" b="1" dirty="0">
                <a:solidFill>
                  <a:srgbClr val="C00000"/>
                </a:solidFill>
              </a:rPr>
              <a:t>Hardware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Computer / Laptop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Minimum 4 GB RAM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Minimum 10 GB storage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Keyboard and Mouse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A31901E-EFEC-2E8F-A27F-07871BF11946}"/>
              </a:ext>
            </a:extLst>
          </p:cNvPr>
          <p:cNvSpPr txBox="1"/>
          <p:nvPr/>
        </p:nvSpPr>
        <p:spPr>
          <a:xfrm>
            <a:off x="6296000" y="2400000"/>
            <a:ext cx="5000000" cy="3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800" b="1" dirty="0">
                <a:solidFill>
                  <a:srgbClr val="C00000"/>
                </a:solidFill>
              </a:rPr>
              <a:t>Software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Windows / Linux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Java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JDK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Visual Studio Code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Java Standard Library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Clr>
                <a:srgbClr val="C00000"/>
              </a:buClr>
              <a:buFont typeface="Arial"/>
              <a:buChar char="•"/>
            </a:pPr>
            <a:r>
              <a:rPr lang="en-IN" sz="2200" dirty="0"/>
              <a:t>Data Structures and Algorithms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B68B4C-2D6E-D88A-DFB9-2A035DDD2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700000"/>
            <a:ext cx="10400000" cy="4852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lang="en-US" altLang="en-US" sz="1700" dirty="0">
                <a:latin typeface="Arial" panose="020B0604020202020204" pitchFamily="34" charset="0"/>
              </a:rPr>
              <a:t>Electronic Medical Health Records 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provides a fast and efficient way to search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contains 200 medical records and 2,000 patient records for searching and testing.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KMP is used for searching medical records based on the entered keyword.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search patient records based on their symptoms.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Programming techniques such as Edit Distance, LCS, and 0/1 Knapsack are implemented.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the practical application of Data Structures and Algorithms to a real-world medical search problem.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reduces the effort required to find relevant medical information.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Z-Function and Rabin-Karp are used to verify matching results.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searching techniques provide a useful basis for comparing and improving search performance.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can be extended to handle larger medical datasets in the future.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system provides a foundation for developing an advanced medical information retrieval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403557-6302-8559-2356-24374F81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000" y="1250000"/>
            <a:ext cx="10400000" cy="50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the medical corpus from the current dataset to a much larger collection.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semantic search to understand the meaning of user queries.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Natural Language Processing (NLP) for better medical text understanding.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spelling correction for incorrectly entered medical keywords.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Edit Distance to find similar medical terms and possible corrections.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result ranking so that the most relevant medical records appear first.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web-based interface for easier access to the search system.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voice-based search so users can speak their medical queries.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 filters for diseases, symptoms, treatments, medicines, and medical conditions.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reliable and verified medical literature into the search corpus.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advanced search techniques such as fuzzy matching and semantic similarity.</a:t>
            </a:r>
          </a:p>
          <a:p>
            <a:pPr marL="342900" indent="-342900"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  <a:buClr>
                <a:srgbClr val="C00000"/>
              </a:buClr>
              <a:buFont typeface="Arial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mobile application for convenient medical information searching.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869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Data Structures and Algorithms -3 (25CS2103E) Electronic Medical Health Records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Bindhu Madhavi P</cp:lastModifiedBy>
  <cp:revision>23</cp:revision>
  <dcterms:created xsi:type="dcterms:W3CDTF">2024-08-29T05:25:00Z</dcterms:created>
  <dcterms:modified xsi:type="dcterms:W3CDTF">2026-09-30T01:57:59Z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