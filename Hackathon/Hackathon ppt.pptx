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594360" y="-548640"/>
            <a:ext cx="1234440" cy="1234440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76200" dist="38100" dir="5400000">
              <a:srgbClr val="7A6552">
                <a:alpha val="30000"/>
              </a:srgbClr>
            </a:outerShdw>
          </a:effectLst>
        </p:spPr>
      </p:sp>
      <p:sp>
        <p:nvSpPr>
          <p:cNvPr id="3" name="Decor 2"/>
          <p:cNvSpPr/>
          <p:nvPr/>
        </p:nvSpPr>
        <p:spPr>
          <a:xfrm>
            <a:off x="7086600" y="-548640"/>
            <a:ext cx="1234440" cy="1234440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76200" dist="38100" dir="5400000">
              <a:srgbClr val="7A6552">
                <a:alpha val="30000"/>
              </a:srgbClr>
            </a:outerShdw>
          </a:effectLst>
        </p:spPr>
      </p:sp>
      <p:sp>
        <p:nvSpPr>
          <p:cNvPr id="4" name="Decor 3"/>
          <p:cNvSpPr/>
          <p:nvPr/>
        </p:nvSpPr>
        <p:spPr>
          <a:xfrm>
            <a:off x="6675120" y="3291840"/>
            <a:ext cx="1325880" cy="1325880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76200" dist="38100" dir="5400000">
              <a:srgbClr val="7A6552">
                <a:alpha val="30000"/>
              </a:srgbClr>
            </a:outerShdw>
          </a:effectLst>
        </p:spPr>
      </p:sp>
      <p:sp>
        <p:nvSpPr>
          <p:cNvPr id="5" name="Title"/>
          <p:cNvSpPr txBox="1"/>
          <p:nvPr/>
        </p:nvSpPr>
        <p:spPr>
          <a:xfrm>
            <a:off x="1097280" y="2743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LogiFlow – Smart Logistics &amp; Delivery Management System</a:t>
            </a:r>
            <a:endParaRPr lang="en-US" sz="2800" dirty="0"/>
          </a:p>
        </p:txBody>
      </p:sp>
      <p:sp>
        <p:nvSpPr>
          <p:cNvPr id="6" name="Title underline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chemeClr val="tx2"/>
          </a:solidFill>
          <a:ln/>
          <a:effectLst>
            <a:outerShdw sx="100000" sy="100000" kx="0" ky="0" algn="bl" rotWithShape="0" blurRad="38100" dist="25400" dir="5400000">
              <a:srgbClr val="7A6552">
                <a:alpha val="30000"/>
              </a:srgbClr>
            </a:outerShdw>
          </a:effectLst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Team Member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Roll Number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Vaishali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2520030117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Bindhu Madhavi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2520030077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Nava Harsha Chowdary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2520030493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Section: 7   |   Team: 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Under the Guidance of Dr. Spandana . 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KONERU LAKSHMAIAH EDUCATION FOUNDATION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KLH Deemed to be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 Number: 3</a:t>
            </a:r>
            <a:endParaRPr lang="en-US" sz="3400" dirty="0"/>
          </a:p>
        </p:txBody>
      </p:sp>
      <p:sp>
        <p:nvSpPr>
          <p:cNvPr id="6" name="Member card 1"/>
          <p:cNvSpPr/>
          <p:nvPr/>
        </p:nvSpPr>
        <p:spPr>
          <a:xfrm>
            <a:off x="5486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7" name="Badge K"/>
          <p:cNvSpPr txBox="1"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Konda Vaishali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2520030117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Project Team Member</a:t>
            </a:r>
            <a:endParaRPr lang="en-US" sz="1200" dirty="0"/>
          </a:p>
        </p:txBody>
      </p:sp>
      <p:sp>
        <p:nvSpPr>
          <p:cNvPr id="11" name="Member card 2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2" name="Badge B"/>
          <p:cNvSpPr txBox="1"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Bindhu Madhavi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2520030077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Project Team Member</a:t>
            </a:r>
            <a:endParaRPr lang="en-US" sz="1200" dirty="0"/>
          </a:p>
        </p:txBody>
      </p:sp>
      <p:sp>
        <p:nvSpPr>
          <p:cNvPr id="16" name="Member card 3"/>
          <p:cNvSpPr/>
          <p:nvPr/>
        </p:nvSpPr>
        <p:spPr>
          <a:xfrm>
            <a:off x="60350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7" name="Badge N"/>
          <p:cNvSpPr txBox="1"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Alaparthi Nava Harsha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2520030493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Project Team Member</a:t>
            </a:r>
            <a:endParaRPr lang="en-US" sz="1200" dirty="0"/>
          </a:p>
        </p:txBody>
      </p:sp>
      <p:sp>
        <p:nvSpPr>
          <p:cNvPr id="21" name="Body"/>
          <p:cNvSpPr txBox="1"/>
          <p:nvPr/>
        </p:nvSpPr>
        <p:spPr>
          <a:xfrm>
            <a:off x="548640" y="28803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focus: database system engineering and distributed backend development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Website prototype: LogiFlow Smart Logistics &amp; Delivery Management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Core demonstration areas: delivery operations, database analytics and distributed infrastructure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Abstract</a:t>
            </a:r>
            <a:endParaRPr lang="en-US" sz="34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LogiFlow is a web-based smart logistics and delivery management interface for monitoring shipments and delivery operations.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website provides a centralized dashboard for shipment status, live tracking, route optimization, notifications and delivery history.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Database analytics presents SQL operations, query-performance indicators and an indexing strategy for shipment data.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distributed-system view demonstrates a primary database, replicas, replication, read scaling and sharding concepts.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supplied website is implemented as a single HTML page with client-side navigation and demonstration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Logistics operations require timely visibility into shipment movement, delivery status and exceptions.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LogiFlow provides a dashboard-oriented interface for administrators and logistics managers.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Shipment records include tracking ID, customer, route, package type, status, priority and ETA.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can search shipments, track by tracking ID and review operational notifications.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interface also presents route optimization, database analytics and distributed infrastructure views.</a:t>
            </a:r>
            <a:endParaRPr lang="en-US" sz="1400" dirty="0"/>
          </a:p>
        </p:txBody>
      </p:sp>
      <p:pic>
        <p:nvPicPr>
          <p:cNvPr id="7" name="Screenshot Live Tracking page" descr="Screenshot of the LogiFlow Live Tracking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3200400" cy="2500313"/>
          </a:xfrm>
          <a:prstGeom prst="rect">
            <a:avLst/>
          </a:prstGeom>
        </p:spPr>
      </p:pic>
      <p:sp>
        <p:nvSpPr>
          <p:cNvPr id="8" name="Frame Live Tracking page"/>
          <p:cNvSpPr/>
          <p:nvPr/>
        </p:nvSpPr>
        <p:spPr>
          <a:xfrm>
            <a:off x="5577840" y="1188720"/>
            <a:ext cx="3200400" cy="2500313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9" name="Caption Live Tracking page"/>
          <p:cNvSpPr txBox="1"/>
          <p:nvPr/>
        </p:nvSpPr>
        <p:spPr>
          <a:xfrm>
            <a:off x="5577840" y="373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Live Tracking page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Existing / Current Website</a:t>
            </a:r>
            <a:endParaRPr lang="en-US" sz="28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Single-page LogiFlow web interface with a fixed navigation sidebar.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Main sections: Dashboard, Shipments, Live Tracking and Route Optimization.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Operations sections: Notifications and Delivery History.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Database sections: Database Analytics and Distributed System.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displays six demonstration shipments with statuses including Picked Up, Delayed, Delivered, Out for Delivery and In Transit.</a:t>
            </a:r>
            <a:endParaRPr lang="en-US" sz="1500" dirty="0"/>
          </a:p>
        </p:txBody>
      </p:sp>
      <p:pic>
        <p:nvPicPr>
          <p:cNvPr id="7" name="Screenshot Notifications page" descr="Screenshot of the LogiFlow Notification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3383280" cy="2643188"/>
          </a:xfrm>
          <a:prstGeom prst="rect">
            <a:avLst/>
          </a:prstGeom>
        </p:spPr>
      </p:pic>
      <p:sp>
        <p:nvSpPr>
          <p:cNvPr id="8" name="Frame Notifications page"/>
          <p:cNvSpPr/>
          <p:nvPr/>
        </p:nvSpPr>
        <p:spPr>
          <a:xfrm>
            <a:off x="5440680" y="1188720"/>
            <a:ext cx="3383280" cy="2643188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9" name="Caption Notifications page"/>
          <p:cNvSpPr txBox="1"/>
          <p:nvPr/>
        </p:nvSpPr>
        <p:spPr>
          <a:xfrm>
            <a:off x="5440680" y="387762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Notifications page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</a:t>
            </a:r>
            <a:endParaRPr lang="en-US" sz="34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Shipment information can be difficult to monitor when operational data is distributed across separate views.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Delayed deliveries require quick identification and attention.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Tracking needs a simple mechanism for locating the latest status of a shipment.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planning should consider distance, travel time, fuel cost and delivery delays.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Database performance can affect frequent tracking searches and delivery-history queries.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Distributed logistics systems must consider replication, read scaling and partition tolerance.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Solution (Contribution)</a:t>
            </a:r>
            <a:endParaRPr lang="en-US" sz="3400" dirty="0"/>
          </a:p>
        </p:txBody>
      </p:sp>
      <p:sp>
        <p:nvSpPr>
          <p:cNvPr id="6" name="Card Unified Operations Dashboard"/>
          <p:cNvSpPr/>
          <p:nvPr/>
        </p:nvSpPr>
        <p:spPr>
          <a:xfrm>
            <a:off x="548640" y="1097280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7" name="Badge 1"/>
          <p:cNvSpPr txBox="1"/>
          <p:nvPr/>
        </p:nvSpPr>
        <p:spPr>
          <a:xfrm>
            <a:off x="68580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ard title"/>
          <p:cNvSpPr txBox="1"/>
          <p:nvPr/>
        </p:nvSpPr>
        <p:spPr>
          <a:xfrm>
            <a:off x="1170432" y="11887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Unified Operations Dashboard</a:t>
            </a:r>
            <a:endParaRPr lang="en-US" sz="1400" dirty="0"/>
          </a:p>
        </p:txBody>
      </p:sp>
      <p:sp>
        <p:nvSpPr>
          <p:cNvPr id="9" name="Card text"/>
          <p:cNvSpPr txBox="1"/>
          <p:nvPr/>
        </p:nvSpPr>
        <p:spPr>
          <a:xfrm>
            <a:off x="685800" y="16642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Centralized view of shipment totals, delivery performance and recent shipment activity.</a:t>
            </a:r>
            <a:endParaRPr lang="en-US" sz="1300" dirty="0"/>
          </a:p>
        </p:txBody>
      </p:sp>
      <p:sp>
        <p:nvSpPr>
          <p:cNvPr id="10" name="Card Shipment Tracking"/>
          <p:cNvSpPr/>
          <p:nvPr/>
        </p:nvSpPr>
        <p:spPr>
          <a:xfrm>
            <a:off x="4572000" y="1097280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1" name="Badge 2"/>
          <p:cNvSpPr txBox="1"/>
          <p:nvPr/>
        </p:nvSpPr>
        <p:spPr>
          <a:xfrm>
            <a:off x="470916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 title"/>
          <p:cNvSpPr txBox="1"/>
          <p:nvPr/>
        </p:nvSpPr>
        <p:spPr>
          <a:xfrm>
            <a:off x="5193792" y="11887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Shipment Tracking</a:t>
            </a:r>
            <a:endParaRPr lang="en-US" sz="1400" dirty="0"/>
          </a:p>
        </p:txBody>
      </p:sp>
      <p:sp>
        <p:nvSpPr>
          <p:cNvPr id="13" name="Card text"/>
          <p:cNvSpPr txBox="1"/>
          <p:nvPr/>
        </p:nvSpPr>
        <p:spPr>
          <a:xfrm>
            <a:off x="4709160" y="16642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Search by tracking ID and display route, status and ETA.</a:t>
            </a:r>
            <a:endParaRPr lang="en-US" sz="1300" dirty="0"/>
          </a:p>
        </p:txBody>
      </p:sp>
      <p:sp>
        <p:nvSpPr>
          <p:cNvPr id="14" name="Card Route Optimization"/>
          <p:cNvSpPr/>
          <p:nvPr/>
        </p:nvSpPr>
        <p:spPr>
          <a:xfrm>
            <a:off x="548640" y="2359152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685800" y="2468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ard title"/>
          <p:cNvSpPr txBox="1"/>
          <p:nvPr/>
        </p:nvSpPr>
        <p:spPr>
          <a:xfrm>
            <a:off x="1170432" y="24505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Route Optimization</a:t>
            </a:r>
            <a:endParaRPr lang="en-US" sz="1400" dirty="0"/>
          </a:p>
        </p:txBody>
      </p:sp>
      <p:sp>
        <p:nvSpPr>
          <p:cNvPr id="17" name="Card text"/>
          <p:cNvSpPr txBox="1"/>
          <p:nvPr/>
        </p:nvSpPr>
        <p:spPr>
          <a:xfrm>
            <a:off x="68580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Demonstrates distance, estimated travel time and fuel-cost information.</a:t>
            </a:r>
            <a:endParaRPr lang="en-US" sz="1300" dirty="0"/>
          </a:p>
        </p:txBody>
      </p:sp>
      <p:sp>
        <p:nvSpPr>
          <p:cNvPr id="18" name="Card Database Analytics"/>
          <p:cNvSpPr/>
          <p:nvPr/>
        </p:nvSpPr>
        <p:spPr>
          <a:xfrm>
            <a:off x="4572000" y="2359152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9" name="Badge 4"/>
          <p:cNvSpPr txBox="1"/>
          <p:nvPr/>
        </p:nvSpPr>
        <p:spPr>
          <a:xfrm>
            <a:off x="4709160" y="2468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ard title"/>
          <p:cNvSpPr txBox="1"/>
          <p:nvPr/>
        </p:nvSpPr>
        <p:spPr>
          <a:xfrm>
            <a:off x="5193792" y="24505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Database Analytics</a:t>
            </a:r>
            <a:endParaRPr lang="en-US" sz="1400" dirty="0"/>
          </a:p>
        </p:txBody>
      </p:sp>
      <p:sp>
        <p:nvSpPr>
          <p:cNvPr id="21" name="Card text"/>
          <p:cNvSpPr txBox="1"/>
          <p:nvPr/>
        </p:nvSpPr>
        <p:spPr>
          <a:xfrm>
            <a:off x="470916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Shows SQL operations, query-performance indicators and indexing strategies.</a:t>
            </a:r>
            <a:endParaRPr lang="en-US" sz="1300" dirty="0"/>
          </a:p>
        </p:txBody>
      </p:sp>
      <p:sp>
        <p:nvSpPr>
          <p:cNvPr id="22" name="Card Distributed Infrastructure"/>
          <p:cNvSpPr/>
          <p:nvPr/>
        </p:nvSpPr>
        <p:spPr>
          <a:xfrm>
            <a:off x="548640" y="3621024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23" name="Badge 5"/>
          <p:cNvSpPr txBox="1"/>
          <p:nvPr/>
        </p:nvSpPr>
        <p:spPr>
          <a:xfrm>
            <a:off x="685800" y="373075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Card title"/>
          <p:cNvSpPr txBox="1"/>
          <p:nvPr/>
        </p:nvSpPr>
        <p:spPr>
          <a:xfrm>
            <a:off x="1170432" y="3712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Distributed Infrastructure</a:t>
            </a:r>
            <a:endParaRPr lang="en-US" sz="1400" dirty="0"/>
          </a:p>
        </p:txBody>
      </p:sp>
      <p:sp>
        <p:nvSpPr>
          <p:cNvPr id="25" name="Card text"/>
          <p:cNvSpPr txBox="1"/>
          <p:nvPr/>
        </p:nvSpPr>
        <p:spPr>
          <a:xfrm>
            <a:off x="685800" y="41879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Models primary/replica nodes with replication, read scaling and sharding.</a:t>
            </a:r>
            <a:endParaRPr lang="en-US" sz="1300" dirty="0"/>
          </a:p>
        </p:txBody>
      </p:sp>
      <p:sp>
        <p:nvSpPr>
          <p:cNvPr id="26" name="Card Operational Notifications"/>
          <p:cNvSpPr/>
          <p:nvPr/>
        </p:nvSpPr>
        <p:spPr>
          <a:xfrm>
            <a:off x="4572000" y="3621024"/>
            <a:ext cx="384048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27" name="Badge 6"/>
          <p:cNvSpPr txBox="1"/>
          <p:nvPr/>
        </p:nvSpPr>
        <p:spPr>
          <a:xfrm>
            <a:off x="4709160" y="373075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Card title"/>
          <p:cNvSpPr txBox="1"/>
          <p:nvPr/>
        </p:nvSpPr>
        <p:spPr>
          <a:xfrm>
            <a:off x="5193792" y="3712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Operational Notifications</a:t>
            </a:r>
            <a:endParaRPr lang="en-US" sz="1400" dirty="0"/>
          </a:p>
        </p:txBody>
      </p:sp>
      <p:sp>
        <p:nvSpPr>
          <p:cNvPr id="29" name="Card text"/>
          <p:cNvSpPr txBox="1"/>
          <p:nvPr/>
        </p:nvSpPr>
        <p:spPr>
          <a:xfrm>
            <a:off x="4709160" y="41879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Highlights new shipments, delays, successful deliveries and active transit.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provide a clear dashboard for monitoring shipment activity and delivery performance.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enable shipment search and tracking using unique tracking IDs.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support route-planning information such as distance, time and fuel cost.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maintain a clear history of completed deliveries and operational notifications.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demonstrate SQL operations, indexing and query-performance concepts.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visualize distributed data infrastructure using replication, read scaling and sharding.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Modules</a:t>
            </a:r>
            <a:endParaRPr lang="en-US" sz="3400" dirty="0"/>
          </a:p>
        </p:txBody>
      </p:sp>
      <p:sp>
        <p:nvSpPr>
          <p:cNvPr id="6" name="Card Dashboard"/>
          <p:cNvSpPr/>
          <p:nvPr/>
        </p:nvSpPr>
        <p:spPr>
          <a:xfrm>
            <a:off x="5486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7" name="Badge 1"/>
          <p:cNvSpPr txBox="1"/>
          <p:nvPr/>
        </p:nvSpPr>
        <p:spPr>
          <a:xfrm>
            <a:off x="68580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ard title"/>
          <p:cNvSpPr txBox="1"/>
          <p:nvPr/>
        </p:nvSpPr>
        <p:spPr>
          <a:xfrm>
            <a:off x="1170432" y="1188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</a:t>
            </a:r>
            <a:endParaRPr lang="en-US" sz="1400" dirty="0"/>
          </a:p>
        </p:txBody>
      </p:sp>
      <p:sp>
        <p:nvSpPr>
          <p:cNvPr id="9" name="Card text"/>
          <p:cNvSpPr txBox="1"/>
          <p:nvPr/>
        </p:nvSpPr>
        <p:spPr>
          <a:xfrm>
            <a:off x="685800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Shipment statistics, live delivery overview and recent activity.</a:t>
            </a:r>
            <a:endParaRPr lang="en-US" sz="1300" dirty="0"/>
          </a:p>
        </p:txBody>
      </p:sp>
      <p:sp>
        <p:nvSpPr>
          <p:cNvPr id="10" name="Card Shipment Management"/>
          <p:cNvSpPr/>
          <p:nvPr/>
        </p:nvSpPr>
        <p:spPr>
          <a:xfrm>
            <a:off x="324612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1" name="Badge 2"/>
          <p:cNvSpPr txBox="1"/>
          <p:nvPr/>
        </p:nvSpPr>
        <p:spPr>
          <a:xfrm>
            <a:off x="338328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 title"/>
          <p:cNvSpPr txBox="1"/>
          <p:nvPr/>
        </p:nvSpPr>
        <p:spPr>
          <a:xfrm>
            <a:off x="3867912" y="1188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Shipment Management</a:t>
            </a:r>
            <a:endParaRPr lang="en-US" sz="1400" dirty="0"/>
          </a:p>
        </p:txBody>
      </p:sp>
      <p:sp>
        <p:nvSpPr>
          <p:cNvPr id="13" name="Card text"/>
          <p:cNvSpPr txBox="1"/>
          <p:nvPr/>
        </p:nvSpPr>
        <p:spPr>
          <a:xfrm>
            <a:off x="3383280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Shipment table with search by tracking ID, customer or location.</a:t>
            </a:r>
            <a:endParaRPr lang="en-US" sz="1300" dirty="0"/>
          </a:p>
        </p:txBody>
      </p:sp>
      <p:sp>
        <p:nvSpPr>
          <p:cNvPr id="14" name="Card Live Tracking"/>
          <p:cNvSpPr/>
          <p:nvPr/>
        </p:nvSpPr>
        <p:spPr>
          <a:xfrm>
            <a:off x="59436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6080760" y="1207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ard title"/>
          <p:cNvSpPr txBox="1"/>
          <p:nvPr/>
        </p:nvSpPr>
        <p:spPr>
          <a:xfrm>
            <a:off x="6565392" y="1188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 Tracking</a:t>
            </a:r>
            <a:endParaRPr lang="en-US" sz="1400" dirty="0"/>
          </a:p>
        </p:txBody>
      </p:sp>
      <p:sp>
        <p:nvSpPr>
          <p:cNvPr id="17" name="Card text"/>
          <p:cNvSpPr txBox="1"/>
          <p:nvPr/>
        </p:nvSpPr>
        <p:spPr>
          <a:xfrm>
            <a:off x="6080760" y="1664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Tracking-ID based shipment lookup with current status and ETA.</a:t>
            </a:r>
            <a:endParaRPr lang="en-US" sz="1300" dirty="0"/>
          </a:p>
        </p:txBody>
      </p:sp>
      <p:sp>
        <p:nvSpPr>
          <p:cNvPr id="18" name="Card Route Optimization"/>
          <p:cNvSpPr/>
          <p:nvPr/>
        </p:nvSpPr>
        <p:spPr>
          <a:xfrm>
            <a:off x="548640" y="23774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19" name="Badge 4"/>
          <p:cNvSpPr txBox="1"/>
          <p:nvPr/>
        </p:nvSpPr>
        <p:spPr>
          <a:xfrm>
            <a:off x="685800" y="2487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Card title"/>
          <p:cNvSpPr txBox="1"/>
          <p:nvPr/>
        </p:nvSpPr>
        <p:spPr>
          <a:xfrm>
            <a:off x="1170432" y="2468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Route Optimization</a:t>
            </a:r>
            <a:endParaRPr lang="en-US" sz="1400" dirty="0"/>
          </a:p>
        </p:txBody>
      </p:sp>
      <p:sp>
        <p:nvSpPr>
          <p:cNvPr id="21" name="Card text"/>
          <p:cNvSpPr txBox="1"/>
          <p:nvPr/>
        </p:nvSpPr>
        <p:spPr>
          <a:xfrm>
            <a:off x="685800" y="2944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Pickup, destination, vehicle, distance, time and fuel cost.</a:t>
            </a:r>
            <a:endParaRPr lang="en-US" sz="1300" dirty="0"/>
          </a:p>
        </p:txBody>
      </p:sp>
      <p:sp>
        <p:nvSpPr>
          <p:cNvPr id="22" name="Card Operations"/>
          <p:cNvSpPr/>
          <p:nvPr/>
        </p:nvSpPr>
        <p:spPr>
          <a:xfrm>
            <a:off x="3246120" y="23774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23" name="Badge 5"/>
          <p:cNvSpPr txBox="1"/>
          <p:nvPr/>
        </p:nvSpPr>
        <p:spPr>
          <a:xfrm>
            <a:off x="3383280" y="2487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Card title"/>
          <p:cNvSpPr txBox="1"/>
          <p:nvPr/>
        </p:nvSpPr>
        <p:spPr>
          <a:xfrm>
            <a:off x="3867912" y="2468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25" name="Card text"/>
          <p:cNvSpPr txBox="1"/>
          <p:nvPr/>
        </p:nvSpPr>
        <p:spPr>
          <a:xfrm>
            <a:off x="3383280" y="2944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Notifications and delivery history.</a:t>
            </a:r>
            <a:endParaRPr lang="en-US" sz="1300" dirty="0"/>
          </a:p>
        </p:txBody>
      </p:sp>
      <p:sp>
        <p:nvSpPr>
          <p:cNvPr id="26" name="Card Database Analytics"/>
          <p:cNvSpPr/>
          <p:nvPr/>
        </p:nvSpPr>
        <p:spPr>
          <a:xfrm>
            <a:off x="5943600" y="23774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27" name="Badge 6"/>
          <p:cNvSpPr txBox="1"/>
          <p:nvPr/>
        </p:nvSpPr>
        <p:spPr>
          <a:xfrm>
            <a:off x="6080760" y="248716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Card title"/>
          <p:cNvSpPr txBox="1"/>
          <p:nvPr/>
        </p:nvSpPr>
        <p:spPr>
          <a:xfrm>
            <a:off x="6565392" y="2468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Database Analytics</a:t>
            </a:r>
            <a:endParaRPr lang="en-US" sz="1400" dirty="0"/>
          </a:p>
        </p:txBody>
      </p:sp>
      <p:sp>
        <p:nvSpPr>
          <p:cNvPr id="29" name="Card text"/>
          <p:cNvSpPr txBox="1"/>
          <p:nvPr/>
        </p:nvSpPr>
        <p:spPr>
          <a:xfrm>
            <a:off x="6080760" y="2944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operations, query performance and indexing strategy.</a:t>
            </a:r>
            <a:endParaRPr lang="en-US" sz="1300" dirty="0"/>
          </a:p>
        </p:txBody>
      </p:sp>
      <p:sp>
        <p:nvSpPr>
          <p:cNvPr id="30" name="Card Distributed System"/>
          <p:cNvSpPr/>
          <p:nvPr/>
        </p:nvSpPr>
        <p:spPr>
          <a:xfrm>
            <a:off x="548640" y="365760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31" name="Badge 7"/>
          <p:cNvSpPr txBox="1"/>
          <p:nvPr/>
        </p:nvSpPr>
        <p:spPr>
          <a:xfrm>
            <a:off x="685800" y="37673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2" name="Card title"/>
          <p:cNvSpPr txBox="1"/>
          <p:nvPr/>
        </p:nvSpPr>
        <p:spPr>
          <a:xfrm>
            <a:off x="1170432" y="37490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Distributed System</a:t>
            </a:r>
            <a:endParaRPr lang="en-US" sz="1400" dirty="0"/>
          </a:p>
        </p:txBody>
      </p:sp>
      <p:sp>
        <p:nvSpPr>
          <p:cNvPr id="33" name="Card text"/>
          <p:cNvSpPr txBox="1"/>
          <p:nvPr/>
        </p:nvSpPr>
        <p:spPr>
          <a:xfrm>
            <a:off x="685800" y="4224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Primary database, replicas, replication, read scaling and sharding.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Website Implementation &amp; User Interface</a:t>
            </a:r>
            <a:endParaRPr lang="en-US" sz="2500" dirty="0"/>
          </a:p>
        </p:txBody>
      </p:sp>
      <p:pic>
        <p:nvPicPr>
          <p:cNvPr id="6" name="Screenshot Dashboard" descr="Screenshot of the LogiFlo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931920" cy="3071813"/>
          </a:xfrm>
          <a:prstGeom prst="rect">
            <a:avLst/>
          </a:prstGeom>
        </p:spPr>
      </p:pic>
      <p:sp>
        <p:nvSpPr>
          <p:cNvPr id="7" name="Frame Dashboard"/>
          <p:cNvSpPr/>
          <p:nvPr/>
        </p:nvSpPr>
        <p:spPr>
          <a:xfrm>
            <a:off x="548640" y="1097280"/>
            <a:ext cx="3931920" cy="3071813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8" name="Caption Dashboard"/>
          <p:cNvSpPr txBox="1"/>
          <p:nvPr/>
        </p:nvSpPr>
        <p:spPr>
          <a:xfrm>
            <a:off x="548640" y="4214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Dashboard</a:t>
            </a:r>
            <a:endParaRPr lang="en-US" sz="1300" dirty="0"/>
          </a:p>
        </p:txBody>
      </p:sp>
      <p:pic>
        <p:nvPicPr>
          <p:cNvPr id="9" name="Screenshot Shipment Management" descr="Screenshot of the LogiFlow Shipment Manag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3931920" cy="3071813"/>
          </a:xfrm>
          <a:prstGeom prst="rect">
            <a:avLst/>
          </a:prstGeom>
        </p:spPr>
      </p:pic>
      <p:sp>
        <p:nvSpPr>
          <p:cNvPr id="10" name="Frame Shipment Management"/>
          <p:cNvSpPr/>
          <p:nvPr/>
        </p:nvSpPr>
        <p:spPr>
          <a:xfrm>
            <a:off x="4663440" y="1097280"/>
            <a:ext cx="3931920" cy="3071813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11" name="Caption Shipment Management"/>
          <p:cNvSpPr txBox="1"/>
          <p:nvPr/>
        </p:nvSpPr>
        <p:spPr>
          <a:xfrm>
            <a:off x="4663440" y="4214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Shipment Management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Website source: Hackathon Website (1).html  •  Responsive single-page layout  •  Client-side navigation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Database &amp; Distributed System</a:t>
            </a:r>
            <a:endParaRPr lang="en-US" sz="2800" dirty="0"/>
          </a:p>
        </p:txBody>
      </p:sp>
      <p:pic>
        <p:nvPicPr>
          <p:cNvPr id="6" name="Screenshot Database Analytics" descr="Screenshot of the LogiFlow Database Analy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931920" cy="3071813"/>
          </a:xfrm>
          <a:prstGeom prst="rect">
            <a:avLst/>
          </a:prstGeom>
        </p:spPr>
      </p:pic>
      <p:sp>
        <p:nvSpPr>
          <p:cNvPr id="7" name="Frame Database Analytics"/>
          <p:cNvSpPr/>
          <p:nvPr/>
        </p:nvSpPr>
        <p:spPr>
          <a:xfrm>
            <a:off x="548640" y="1097280"/>
            <a:ext cx="3931920" cy="3071813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8" name="Caption Database Analytics"/>
          <p:cNvSpPr txBox="1"/>
          <p:nvPr/>
        </p:nvSpPr>
        <p:spPr>
          <a:xfrm>
            <a:off x="548640" y="4214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Database Analytics</a:t>
            </a:r>
            <a:endParaRPr lang="en-US" sz="1300" dirty="0"/>
          </a:p>
        </p:txBody>
      </p:sp>
      <p:pic>
        <p:nvPicPr>
          <p:cNvPr id="9" name="Screenshot Distributed System" descr="Screenshot of the LogiFlow Distribut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3931920" cy="3071813"/>
          </a:xfrm>
          <a:prstGeom prst="rect">
            <a:avLst/>
          </a:prstGeom>
        </p:spPr>
      </p:pic>
      <p:sp>
        <p:nvSpPr>
          <p:cNvPr id="10" name="Frame Distributed System"/>
          <p:cNvSpPr/>
          <p:nvPr/>
        </p:nvSpPr>
        <p:spPr>
          <a:xfrm>
            <a:off x="4663440" y="1097280"/>
            <a:ext cx="3931920" cy="3071813"/>
          </a:xfrm>
          <a:prstGeom prst="rect">
            <a:avLst/>
          </a:prstGeom>
          <a:ln w="15875">
            <a:solidFill>
              <a:srgbClr val="4F7089"/>
            </a:solidFill>
            <a:prstDash val="solid"/>
          </a:ln>
        </p:spPr>
      </p:sp>
      <p:sp>
        <p:nvSpPr>
          <p:cNvPr id="11" name="Caption Distributed System"/>
          <p:cNvSpPr txBox="1"/>
          <p:nvPr/>
        </p:nvSpPr>
        <p:spPr>
          <a:xfrm>
            <a:off x="4663440" y="42148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Distributed System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Software / Technology Requirements</a:t>
            </a:r>
            <a:endParaRPr lang="en-US" sz="2800" dirty="0"/>
          </a:p>
        </p:txBody>
      </p:sp>
      <p:sp>
        <p:nvSpPr>
          <p:cNvPr id="6" name="Body"/>
          <p:cNvSpPr txBox="1"/>
          <p:nvPr/>
        </p:nvSpPr>
        <p:spPr>
          <a:xfrm>
            <a:off x="548640" y="118872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HTML5 and CSS3 for the web interface and responsive layout.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JavaScript for client-side navigation, shipment data rendering, search and tracking interactions.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Browser environment such as Chrome/Edge for running the website.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/ relational database concepts represented through the Database Analytics section.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 concepts: SELECT, INSERT, UPDATE, DELETE, JOIN and GROUP BY.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Version control and project development through VS Code and Git/GitHub.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Prototype emphasis: web UI + database/distributed-system demonstration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 txBox="1"/>
          <p:nvPr/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and Future Scope</a:t>
            </a:r>
            <a:endParaRPr lang="en-US" sz="2800" dirty="0"/>
          </a:p>
        </p:txBody>
      </p:sp>
      <p:sp>
        <p:nvSpPr>
          <p:cNvPr id="6" name="Panel Conclusion"/>
          <p:cNvSpPr/>
          <p:nvPr/>
        </p:nvSpPr>
        <p:spPr>
          <a:xfrm>
            <a:off x="548640" y="114300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Conclusion</a:t>
            </a:r>
            <a:endParaRPr lang="en-US" sz="1900" dirty="0"/>
          </a:p>
        </p:txBody>
      </p:sp>
      <p:sp>
        <p:nvSpPr>
          <p:cNvPr id="8" name="Body"/>
          <p:cNvSpPr txBox="1"/>
          <p:nvPr/>
        </p:nvSpPr>
        <p:spPr>
          <a:xfrm>
            <a:off x="731520" y="17373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LogiFlow brings shipment monitoring, tracking, route planning, notifications and delivery history into one web interface.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database analytics view demonstrates common SQL operations, indexing and query-performance concepts.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distributed-system view communicates how replicas, replication, read scaling and sharding can support a larger logistics platform.</a:t>
            </a:r>
            <a:endParaRPr lang="en-US" sz="1300" dirty="0"/>
          </a:p>
        </p:txBody>
      </p:sp>
      <p:sp>
        <p:nvSpPr>
          <p:cNvPr id="9" name="Panel Future Scope"/>
          <p:cNvSpPr/>
          <p:nvPr/>
        </p:nvSpPr>
        <p:spPr>
          <a:xfrm>
            <a:off x="4617720" y="114300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Future Scope</a:t>
            </a:r>
            <a:endParaRPr lang="en-US" sz="1900" dirty="0"/>
          </a:p>
        </p:txBody>
      </p:sp>
      <p:sp>
        <p:nvSpPr>
          <p:cNvPr id="11" name="Body"/>
          <p:cNvSpPr txBox="1"/>
          <p:nvPr/>
        </p:nvSpPr>
        <p:spPr>
          <a:xfrm>
            <a:off x="4800600" y="17373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Connect the interface to a production Flask/REST backend and persistent database.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real-time GPS/map integration, authenticated users, role-based administration and live shipment updates.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real database execution, monitoring dashboards and cloud deployment for multi-user operation.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ecor 2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" name="Decor 3"/>
          <p:cNvSpPr/>
          <p:nvPr/>
        </p:nvSpPr>
        <p:spPr>
          <a:xfrm>
            <a:off x="8138160" y="-548640"/>
            <a:ext cx="1463040" cy="14630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LOGISTICS &amp; DELIVERY TRACKING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LogiFlow Web-Based Logistics Management System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Flow">
  <a:themeElements>
    <a:clrScheme name="LogiFlow">
      <a:dk1>
        <a:srgbClr val="5C4632"/>
      </a:dk1>
      <a:lt1>
        <a:srgbClr val="F7EFE1"/>
      </a:lt1>
      <a:dk2>
        <a:srgbClr val="4F7089"/>
      </a:dk2>
      <a:lt2>
        <a:srgbClr val="E6EBE8"/>
      </a:lt2>
      <a:accent1>
        <a:srgbClr val="4F7089"/>
      </a:accent1>
      <a:accent2>
        <a:srgbClr val="B9CCD9"/>
      </a:accent2>
      <a:accent3>
        <a:srgbClr val="7A6552"/>
      </a:accent3>
      <a:accent4>
        <a:srgbClr val="C9D9E3"/>
      </a:accent4>
      <a:accent5>
        <a:srgbClr val="DDE3E0"/>
      </a:accent5>
      <a:accent6>
        <a:srgbClr val="A9BCC9"/>
      </a:accent6>
      <a:hlink>
        <a:srgbClr val="4F7089"/>
      </a:hlink>
      <a:folHlink>
        <a:srgbClr val="7A6552"/>
      </a:folHlink>
    </a:clrScheme>
    <a:fontScheme name="LogiFlo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LogiFlow – Smart Logistics &amp; Delivery Management</dc:title>
  <dc:subject>PptxGenJS Presentation</dc:subject>
  <dc:creator>PptxGenJS</dc:creator>
  <cp:lastModifiedBy>PptxGenJS</cp:lastModifiedBy>
  <cp:revision>1</cp:revision>
  <dcterms:created xsi:type="dcterms:W3CDTF">2026-10-08T07:16:48Z</dcterms:created>
  <dcterms:modified xsi:type="dcterms:W3CDTF">2026-10-08T07:16:48Z</dcterms:modified>
</cp:coreProperties>
</file>